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4"/>
  </p:sldMasterIdLst>
  <p:notesMasterIdLst>
    <p:notesMasterId r:id="rId6"/>
  </p:notesMasterIdLst>
  <p:sldIdLst>
    <p:sldId id="256" r:id="rId5"/>
  </p:sldIdLst>
  <p:sldSz cx="43891200" cy="329184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C6C"/>
    <a:srgbClr val="FEC2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1" d="100"/>
          <a:sy n="41" d="100"/>
        </p:scale>
        <p:origin x="798" y="198"/>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6725"/>
          </a:xfrm>
          <a:prstGeom prst="rect">
            <a:avLst/>
          </a:prstGeom>
        </p:spPr>
        <p:txBody>
          <a:bodyPr vert="horz" lIns="91440" tIns="45720" rIns="91440" bIns="45720" rtlCol="0"/>
          <a:lstStyle>
            <a:lvl1pPr algn="r">
              <a:defRPr sz="1200"/>
            </a:lvl1pPr>
          </a:lstStyle>
          <a:p>
            <a:fld id="{BEA63541-6BA5-1B44-B5EC-0373AF453491}" type="datetimeFigureOut">
              <a:rPr lang="en-US" smtClean="0"/>
              <a:t>4/4/2023</a:t>
            </a:fld>
            <a:endParaRPr lang="en-US"/>
          </a:p>
        </p:txBody>
      </p:sp>
      <p:sp>
        <p:nvSpPr>
          <p:cNvPr id="4" name="Slide Image Placeholder 3"/>
          <p:cNvSpPr>
            <a:spLocks noGrp="1" noRot="1" noChangeAspect="1"/>
          </p:cNvSpPr>
          <p:nvPr>
            <p:ph type="sldImg" idx="2"/>
          </p:nvPr>
        </p:nvSpPr>
        <p:spPr>
          <a:xfrm>
            <a:off x="13509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73575"/>
            <a:ext cx="55054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6725"/>
          </a:xfrm>
          <a:prstGeom prst="rect">
            <a:avLst/>
          </a:prstGeom>
        </p:spPr>
        <p:txBody>
          <a:bodyPr vert="horz" lIns="91440" tIns="45720" rIns="91440" bIns="45720" rtlCol="0" anchor="b"/>
          <a:lstStyle>
            <a:lvl1pPr algn="r">
              <a:defRPr sz="1200"/>
            </a:lvl1pPr>
          </a:lstStyle>
          <a:p>
            <a:fld id="{22C60192-87F4-7D49-A935-AC71A7AC35CF}" type="slidenum">
              <a:rPr lang="en-US" smtClean="0"/>
              <a:t>‹#›</a:t>
            </a:fld>
            <a:endParaRPr lang="en-US"/>
          </a:p>
        </p:txBody>
      </p:sp>
    </p:spTree>
    <p:extLst>
      <p:ext uri="{BB962C8B-B14F-4D97-AF65-F5344CB8AC3E}">
        <p14:creationId xmlns:p14="http://schemas.microsoft.com/office/powerpoint/2010/main" val="2665842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60192-87F4-7D49-A935-AC71A7AC35CF}" type="slidenum">
              <a:rPr lang="en-US" smtClean="0"/>
              <a:t>1</a:t>
            </a:fld>
            <a:endParaRPr lang="en-US"/>
          </a:p>
        </p:txBody>
      </p:sp>
    </p:spTree>
    <p:extLst>
      <p:ext uri="{BB962C8B-B14F-4D97-AF65-F5344CB8AC3E}">
        <p14:creationId xmlns:p14="http://schemas.microsoft.com/office/powerpoint/2010/main" val="1427411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9520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AA2320-7051-4086-BE30-05F3CED99B81}"/>
              </a:ext>
            </a:extLst>
          </p:cNvPr>
          <p:cNvSpPr>
            <a:spLocks noGrp="1"/>
          </p:cNvSpPr>
          <p:nvPr>
            <p:ph type="title"/>
          </p:nvPr>
        </p:nvSpPr>
        <p:spPr>
          <a:xfrm>
            <a:off x="3017520" y="1752603"/>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CB6650-51D1-4FB7-8D77-2EAACEEADF8A}"/>
              </a:ext>
            </a:extLst>
          </p:cNvPr>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0E7C8-7FF9-4C9C-8025-3CCF1F580193}"/>
              </a:ext>
            </a:extLst>
          </p:cNvPr>
          <p:cNvSpPr>
            <a:spLocks noGrp="1"/>
          </p:cNvSpPr>
          <p:nvPr>
            <p:ph type="dt" sz="half" idx="2"/>
          </p:nvPr>
        </p:nvSpPr>
        <p:spPr>
          <a:xfrm>
            <a:off x="3017520" y="30510482"/>
            <a:ext cx="9875520" cy="1752600"/>
          </a:xfrm>
          <a:prstGeom prst="rect">
            <a:avLst/>
          </a:prstGeom>
        </p:spPr>
        <p:txBody>
          <a:bodyPr vert="horz" lIns="91440" tIns="45720" rIns="91440" bIns="45720" rtlCol="0" anchor="ctr"/>
          <a:lstStyle>
            <a:lvl1pPr algn="l">
              <a:defRPr sz="4320">
                <a:solidFill>
                  <a:schemeClr val="tx1">
                    <a:tint val="75000"/>
                  </a:schemeClr>
                </a:solidFill>
              </a:defRPr>
            </a:lvl1pPr>
          </a:lstStyle>
          <a:p>
            <a:fld id="{985D6BDF-9D0E-4E2B-85B8-D8F4790360C9}" type="datetimeFigureOut">
              <a:rPr lang="en-US" smtClean="0"/>
              <a:t>4/4/2023</a:t>
            </a:fld>
            <a:endParaRPr lang="en-US"/>
          </a:p>
        </p:txBody>
      </p:sp>
      <p:sp>
        <p:nvSpPr>
          <p:cNvPr id="5" name="Footer Placeholder 4">
            <a:extLst>
              <a:ext uri="{FF2B5EF4-FFF2-40B4-BE49-F238E27FC236}">
                <a16:creationId xmlns:a16="http://schemas.microsoft.com/office/drawing/2014/main" id="{FAC26B8D-9A00-4784-BBA0-627D012CA801}"/>
              </a:ext>
            </a:extLst>
          </p:cNvPr>
          <p:cNvSpPr>
            <a:spLocks noGrp="1"/>
          </p:cNvSpPr>
          <p:nvPr>
            <p:ph type="ftr" sz="quarter" idx="3"/>
          </p:nvPr>
        </p:nvSpPr>
        <p:spPr>
          <a:xfrm>
            <a:off x="14538960" y="30510482"/>
            <a:ext cx="14813280" cy="17526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772DF0-F4C0-44E8-9F72-FFC4534F3346}"/>
              </a:ext>
            </a:extLst>
          </p:cNvPr>
          <p:cNvSpPr>
            <a:spLocks noGrp="1"/>
          </p:cNvSpPr>
          <p:nvPr>
            <p:ph type="sldNum" sz="quarter" idx="4"/>
          </p:nvPr>
        </p:nvSpPr>
        <p:spPr>
          <a:xfrm>
            <a:off x="30998160" y="30510482"/>
            <a:ext cx="9875520" cy="1752600"/>
          </a:xfrm>
          <a:prstGeom prst="rect">
            <a:avLst/>
          </a:prstGeom>
        </p:spPr>
        <p:txBody>
          <a:bodyPr vert="horz" lIns="91440" tIns="45720" rIns="91440" bIns="45720" rtlCol="0" anchor="ctr"/>
          <a:lstStyle>
            <a:lvl1pPr algn="r">
              <a:defRPr sz="4320">
                <a:solidFill>
                  <a:schemeClr val="tx1">
                    <a:tint val="75000"/>
                  </a:schemeClr>
                </a:solidFill>
              </a:defRPr>
            </a:lvl1pPr>
          </a:lstStyle>
          <a:p>
            <a:fld id="{FBB075EA-769C-4ECD-B48E-D6FCDC24F876}" type="slidenum">
              <a:rPr lang="en-US" smtClean="0"/>
              <a:t>‹#›</a:t>
            </a:fld>
            <a:endParaRPr lang="en-US"/>
          </a:p>
        </p:txBody>
      </p:sp>
      <p:sp>
        <p:nvSpPr>
          <p:cNvPr id="7" name="Rectangle 6">
            <a:extLst>
              <a:ext uri="{FF2B5EF4-FFF2-40B4-BE49-F238E27FC236}">
                <a16:creationId xmlns:a16="http://schemas.microsoft.com/office/drawing/2014/main" id="{1A6B75E9-20AF-4508-B0B1-37EB62C7573F}"/>
              </a:ext>
            </a:extLst>
          </p:cNvPr>
          <p:cNvSpPr/>
          <p:nvPr userDrawn="1"/>
        </p:nvSpPr>
        <p:spPr>
          <a:xfrm>
            <a:off x="43159680"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a:p>
        </p:txBody>
      </p:sp>
      <p:sp>
        <p:nvSpPr>
          <p:cNvPr id="8" name="Rectangle 7">
            <a:extLst>
              <a:ext uri="{FF2B5EF4-FFF2-40B4-BE49-F238E27FC236}">
                <a16:creationId xmlns:a16="http://schemas.microsoft.com/office/drawing/2014/main" id="{1908E2B7-FD7C-4917-9116-BC481670380D}"/>
              </a:ext>
            </a:extLst>
          </p:cNvPr>
          <p:cNvSpPr/>
          <p:nvPr userDrawn="1"/>
        </p:nvSpPr>
        <p:spPr>
          <a:xfrm>
            <a:off x="-3"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a:p>
        </p:txBody>
      </p:sp>
      <p:sp>
        <p:nvSpPr>
          <p:cNvPr id="9" name="Rectangle 8">
            <a:extLst>
              <a:ext uri="{FF2B5EF4-FFF2-40B4-BE49-F238E27FC236}">
                <a16:creationId xmlns:a16="http://schemas.microsoft.com/office/drawing/2014/main" id="{4E459857-EC20-4725-9729-C46C2B82E67B}"/>
              </a:ext>
            </a:extLst>
          </p:cNvPr>
          <p:cNvSpPr/>
          <p:nvPr userDrawn="1"/>
        </p:nvSpPr>
        <p:spPr>
          <a:xfrm>
            <a:off x="0" y="0"/>
            <a:ext cx="43891200" cy="41148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a:p>
        </p:txBody>
      </p:sp>
      <p:sp>
        <p:nvSpPr>
          <p:cNvPr id="10" name="Rectangle 9">
            <a:extLst>
              <a:ext uri="{FF2B5EF4-FFF2-40B4-BE49-F238E27FC236}">
                <a16:creationId xmlns:a16="http://schemas.microsoft.com/office/drawing/2014/main" id="{53D01061-EB55-4BDA-9715-6B258A79D235}"/>
              </a:ext>
            </a:extLst>
          </p:cNvPr>
          <p:cNvSpPr/>
          <p:nvPr userDrawn="1"/>
        </p:nvSpPr>
        <p:spPr>
          <a:xfrm>
            <a:off x="0" y="28803600"/>
            <a:ext cx="43891200" cy="411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a:p>
        </p:txBody>
      </p:sp>
      <p:sp>
        <p:nvSpPr>
          <p:cNvPr id="11" name="Instructions">
            <a:extLst>
              <a:ext uri="{FF2B5EF4-FFF2-40B4-BE49-F238E27FC236}">
                <a16:creationId xmlns:a16="http://schemas.microsoft.com/office/drawing/2014/main" id="{2635A212-2F14-4E54-B188-2E68FF297809}"/>
              </a:ext>
            </a:extLst>
          </p:cNvPr>
          <p:cNvSpPr/>
          <p:nvPr userDrawn="1"/>
        </p:nvSpPr>
        <p:spPr>
          <a:xfrm>
            <a:off x="-10515600" y="0"/>
            <a:ext cx="960120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71421" tIns="171421" rIns="171421" bIns="171421"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a:solidFill>
                  <a:srgbClr val="7F7F7F"/>
                </a:solidFill>
                <a:latin typeface="Calibri" pitchFamily="34" charset="0"/>
                <a:cs typeface="Calibri" panose="020F0502020204030204" pitchFamily="34" charset="0"/>
              </a:rPr>
              <a:t>Poster Print Size:</a:t>
            </a:r>
            <a:endParaRPr sz="7200">
              <a:solidFill>
                <a:srgbClr val="7F7F7F"/>
              </a:solidFill>
              <a:latin typeface="Calibri" pitchFamily="34" charset="0"/>
              <a:cs typeface="Calibri" panose="020F0502020204030204" pitchFamily="34" charset="0"/>
            </a:endParaRPr>
          </a:p>
          <a:p>
            <a:pPr lvl="0">
              <a:spcBef>
                <a:spcPts val="0"/>
              </a:spcBef>
              <a:spcAft>
                <a:spcPts val="1800"/>
              </a:spcAft>
            </a:pPr>
            <a:r>
              <a:rPr lang="en-US" sz="4900">
                <a:solidFill>
                  <a:srgbClr val="7F7F7F"/>
                </a:solidFill>
                <a:latin typeface="Calibri" pitchFamily="34" charset="0"/>
                <a:cs typeface="Calibri" panose="020F0502020204030204" pitchFamily="34" charset="0"/>
              </a:rPr>
              <a:t>This poster template is 36” high by 48” wide. It can be used to print any poster with a 3:4 aspect ratio.</a:t>
            </a:r>
          </a:p>
          <a:p>
            <a:pPr lvl="0">
              <a:spcBef>
                <a:spcPts val="0"/>
              </a:spcBef>
              <a:spcAft>
                <a:spcPts val="1800"/>
              </a:spcAft>
            </a:pPr>
            <a:r>
              <a:rPr lang="en-US" sz="7200">
                <a:solidFill>
                  <a:srgbClr val="7F7F7F"/>
                </a:solidFill>
                <a:latin typeface="Calibri" pitchFamily="34" charset="0"/>
                <a:cs typeface="Calibri" panose="020F0502020204030204" pitchFamily="34" charset="0"/>
              </a:rPr>
              <a:t>Placeholders</a:t>
            </a:r>
            <a:r>
              <a:rPr sz="7200">
                <a:solidFill>
                  <a:srgbClr val="7F7F7F"/>
                </a:solidFill>
                <a:latin typeface="Calibri" pitchFamily="34" charset="0"/>
                <a:cs typeface="Calibri" panose="020F0502020204030204" pitchFamily="34" charset="0"/>
              </a:rPr>
              <a:t>:</a:t>
            </a:r>
          </a:p>
          <a:p>
            <a:pPr lvl="0">
              <a:spcBef>
                <a:spcPts val="0"/>
              </a:spcBef>
              <a:spcAft>
                <a:spcPts val="1800"/>
              </a:spcAft>
            </a:pPr>
            <a:r>
              <a:rPr sz="4900">
                <a:solidFill>
                  <a:srgbClr val="7F7F7F"/>
                </a:solidFill>
                <a:latin typeface="Calibri" pitchFamily="34" charset="0"/>
                <a:cs typeface="Calibri" panose="020F0502020204030204" pitchFamily="34" charset="0"/>
              </a:rPr>
              <a:t>The </a:t>
            </a:r>
            <a:r>
              <a:rPr lang="en-US" sz="4900">
                <a:solidFill>
                  <a:srgbClr val="7F7F7F"/>
                </a:solidFill>
                <a:latin typeface="Calibri" pitchFamily="34" charset="0"/>
                <a:cs typeface="Calibri" panose="020F0502020204030204" pitchFamily="34" charset="0"/>
              </a:rPr>
              <a:t>various elements included</a:t>
            </a:r>
            <a:r>
              <a:rPr sz="4900">
                <a:solidFill>
                  <a:srgbClr val="7F7F7F"/>
                </a:solidFill>
                <a:latin typeface="Calibri" pitchFamily="34" charset="0"/>
                <a:cs typeface="Calibri" panose="020F0502020204030204" pitchFamily="34" charset="0"/>
              </a:rPr>
              <a:t> in this </a:t>
            </a:r>
            <a:r>
              <a:rPr lang="en-US" sz="4900">
                <a:solidFill>
                  <a:srgbClr val="7F7F7F"/>
                </a:solidFill>
                <a:latin typeface="Calibri" pitchFamily="34" charset="0"/>
                <a:cs typeface="Calibri" panose="020F0502020204030204" pitchFamily="34" charset="0"/>
              </a:rPr>
              <a:t>poster are ones</a:t>
            </a:r>
            <a:r>
              <a:rPr lang="en-US" sz="4900" baseline="0">
                <a:solidFill>
                  <a:srgbClr val="7F7F7F"/>
                </a:solidFill>
                <a:latin typeface="Calibri" pitchFamily="34" charset="0"/>
                <a:cs typeface="Calibri" panose="020F0502020204030204" pitchFamily="34" charset="0"/>
              </a:rPr>
              <a:t> we often see in medical, research, and scientific posters.</a:t>
            </a:r>
            <a:r>
              <a:rPr sz="4900">
                <a:solidFill>
                  <a:srgbClr val="7F7F7F"/>
                </a:solidFill>
                <a:latin typeface="Calibri" pitchFamily="34" charset="0"/>
                <a:cs typeface="Calibri" panose="020F0502020204030204" pitchFamily="34" charset="0"/>
              </a:rPr>
              <a:t> </a:t>
            </a:r>
            <a:r>
              <a:rPr lang="en-US" sz="4900">
                <a:solidFill>
                  <a:srgbClr val="7F7F7F"/>
                </a:solidFill>
                <a:latin typeface="Calibri" pitchFamily="34" charset="0"/>
                <a:cs typeface="Calibri" panose="020F0502020204030204" pitchFamily="34" charset="0"/>
              </a:rPr>
              <a:t>Feel</a:t>
            </a:r>
            <a:r>
              <a:rPr lang="en-US" sz="4900" baseline="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800"/>
              </a:spcAft>
            </a:pPr>
            <a:r>
              <a:rPr lang="en-US" sz="7200">
                <a:solidFill>
                  <a:srgbClr val="7F7F7F"/>
                </a:solidFill>
                <a:latin typeface="Calibri" pitchFamily="34" charset="0"/>
                <a:cs typeface="Calibri" panose="020F0502020204030204" pitchFamily="34" charset="0"/>
              </a:rPr>
              <a:t>Image</a:t>
            </a:r>
            <a:r>
              <a:rPr lang="en-US" sz="7200" baseline="0">
                <a:solidFill>
                  <a:srgbClr val="7F7F7F"/>
                </a:solidFill>
                <a:latin typeface="Calibri" pitchFamily="34" charset="0"/>
                <a:cs typeface="Calibri" panose="020F0502020204030204" pitchFamily="34" charset="0"/>
              </a:rPr>
              <a:t> Quality</a:t>
            </a:r>
            <a:r>
              <a:rPr lang="en-US" sz="7200">
                <a:solidFill>
                  <a:srgbClr val="7F7F7F"/>
                </a:solidFill>
                <a:latin typeface="Calibri" pitchFamily="34" charset="0"/>
                <a:cs typeface="Calibri" panose="020F0502020204030204" pitchFamily="34" charset="0"/>
              </a:rPr>
              <a:t>:</a:t>
            </a:r>
          </a:p>
          <a:p>
            <a:pPr lvl="0">
              <a:spcBef>
                <a:spcPts val="0"/>
              </a:spcBef>
              <a:spcAft>
                <a:spcPts val="1800"/>
              </a:spcAft>
            </a:pPr>
            <a:r>
              <a:rPr lang="en-US" sz="4900">
                <a:solidFill>
                  <a:srgbClr val="7F7F7F"/>
                </a:solidFill>
                <a:latin typeface="Calibri" pitchFamily="34" charset="0"/>
                <a:cs typeface="Calibri" panose="020F0502020204030204" pitchFamily="34" charset="0"/>
              </a:rPr>
              <a:t>You can place digital photos or logo art in your poster file by selecting the </a:t>
            </a:r>
            <a:r>
              <a:rPr lang="en-US" sz="4900" b="1">
                <a:solidFill>
                  <a:srgbClr val="7F7F7F"/>
                </a:solidFill>
                <a:latin typeface="Calibri" pitchFamily="34" charset="0"/>
                <a:cs typeface="Calibri" panose="020F0502020204030204" pitchFamily="34" charset="0"/>
              </a:rPr>
              <a:t>Insert, Picture</a:t>
            </a:r>
            <a:r>
              <a:rPr lang="en-US" sz="490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4900" b="1">
                <a:solidFill>
                  <a:srgbClr val="7F7F7F"/>
                </a:solidFill>
                <a:latin typeface="Calibri" pitchFamily="34" charset="0"/>
                <a:cs typeface="Calibri" panose="020F0502020204030204" pitchFamily="34" charset="0"/>
              </a:rPr>
              <a:t>150-200 pixels per inch in their final printed size</a:t>
            </a:r>
            <a:r>
              <a:rPr lang="en-US" sz="4900">
                <a:solidFill>
                  <a:srgbClr val="7F7F7F"/>
                </a:solidFill>
                <a:latin typeface="Calibri" pitchFamily="34" charset="0"/>
                <a:cs typeface="Calibri" panose="020F0502020204030204" pitchFamily="34" charset="0"/>
              </a:rPr>
              <a:t>. For instance, a 1600 x 1200 pixel</a:t>
            </a:r>
            <a:r>
              <a:rPr lang="en-US" sz="4900" baseline="0">
                <a:solidFill>
                  <a:srgbClr val="7F7F7F"/>
                </a:solidFill>
                <a:latin typeface="Calibri" pitchFamily="34" charset="0"/>
                <a:cs typeface="Calibri" panose="020F0502020204030204" pitchFamily="34" charset="0"/>
              </a:rPr>
              <a:t> photo will usually look fine up to </a:t>
            </a:r>
            <a:r>
              <a:rPr lang="en-US" sz="4900">
                <a:solidFill>
                  <a:srgbClr val="7F7F7F"/>
                </a:solidFill>
                <a:latin typeface="Calibri" pitchFamily="34" charset="0"/>
                <a:cs typeface="Calibri" panose="020F0502020204030204" pitchFamily="34" charset="0"/>
              </a:rPr>
              <a:t>8“-10” wide on your printed poster.</a:t>
            </a:r>
          </a:p>
          <a:p>
            <a:pPr lvl="0">
              <a:spcBef>
                <a:spcPts val="0"/>
              </a:spcBef>
              <a:spcAft>
                <a:spcPts val="1800"/>
              </a:spcAft>
            </a:pPr>
            <a:r>
              <a:rPr lang="en-US" sz="490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800"/>
              </a:spcAft>
            </a:pPr>
            <a:r>
              <a:rPr lang="en-US" sz="490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800"/>
              </a:spcAft>
            </a:pPr>
            <a:br>
              <a:rPr lang="en-US" sz="3600">
                <a:solidFill>
                  <a:srgbClr val="7F7F7F"/>
                </a:solidFill>
                <a:latin typeface="Calibri" pitchFamily="34" charset="0"/>
                <a:cs typeface="Calibri" panose="020F0502020204030204" pitchFamily="34" charset="0"/>
              </a:rPr>
            </a:br>
            <a:r>
              <a:rPr lang="en-US" sz="3600">
                <a:solidFill>
                  <a:srgbClr val="7F7F7F"/>
                </a:solidFill>
                <a:latin typeface="Calibri" pitchFamily="34" charset="0"/>
                <a:cs typeface="Calibri" panose="020F0502020204030204" pitchFamily="34" charset="0"/>
              </a:rPr>
              <a:t>[This sidebar area does not print.]</a:t>
            </a:r>
          </a:p>
        </p:txBody>
      </p:sp>
      <p:grpSp>
        <p:nvGrpSpPr>
          <p:cNvPr id="12" name="Group 11">
            <a:extLst>
              <a:ext uri="{FF2B5EF4-FFF2-40B4-BE49-F238E27FC236}">
                <a16:creationId xmlns:a16="http://schemas.microsoft.com/office/drawing/2014/main" id="{8C03A960-1683-409E-A55D-F51A19859FC5}"/>
              </a:ext>
            </a:extLst>
          </p:cNvPr>
          <p:cNvGrpSpPr/>
          <p:nvPr userDrawn="1"/>
        </p:nvGrpSpPr>
        <p:grpSpPr>
          <a:xfrm>
            <a:off x="44805600" y="0"/>
            <a:ext cx="9601200" cy="32918400"/>
            <a:chOff x="33832800" y="0"/>
            <a:chExt cx="12801600" cy="43891200"/>
          </a:xfrm>
        </p:grpSpPr>
        <p:sp>
          <p:nvSpPr>
            <p:cNvPr id="13" name="Instructions">
              <a:extLst>
                <a:ext uri="{FF2B5EF4-FFF2-40B4-BE49-F238E27FC236}">
                  <a16:creationId xmlns:a16="http://schemas.microsoft.com/office/drawing/2014/main" id="{AB929665-0AA8-4244-A1ED-F55D3543CCB6}"/>
                </a:ext>
              </a:extLst>
            </p:cNvPr>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a:solidFill>
                    <a:schemeClr val="bg1">
                      <a:lumMod val="50000"/>
                    </a:schemeClr>
                  </a:solidFill>
                  <a:latin typeface="Calibri" pitchFamily="34" charset="0"/>
                  <a:cs typeface="Calibri" panose="020F0502020204030204" pitchFamily="34" charset="0"/>
                </a:rPr>
                <a:t>Change</a:t>
              </a:r>
              <a:r>
                <a:rPr lang="en-US" sz="7200" baseline="0">
                  <a:solidFill>
                    <a:schemeClr val="bg1">
                      <a:lumMod val="50000"/>
                    </a:schemeClr>
                  </a:solidFill>
                  <a:latin typeface="Calibri" pitchFamily="34" charset="0"/>
                  <a:cs typeface="Calibri" panose="020F0502020204030204" pitchFamily="34" charset="0"/>
                </a:rPr>
                <a:t> Color Theme</a:t>
              </a:r>
              <a:r>
                <a:rPr lang="en-US" sz="7200">
                  <a:solidFill>
                    <a:schemeClr val="bg1">
                      <a:lumMod val="50000"/>
                    </a:schemeClr>
                  </a:solidFill>
                  <a:latin typeface="Calibri" pitchFamily="34" charset="0"/>
                  <a:cs typeface="Calibri" panose="020F0502020204030204" pitchFamily="34" charset="0"/>
                </a:rPr>
                <a:t>:</a:t>
              </a:r>
              <a:endParaRPr sz="720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a:solidFill>
                    <a:schemeClr val="bg1">
                      <a:lumMod val="50000"/>
                    </a:schemeClr>
                  </a:solidFill>
                  <a:latin typeface="Calibri" pitchFamily="34" charset="0"/>
                  <a:cs typeface="Calibri" panose="020F0502020204030204" pitchFamily="34" charset="0"/>
                </a:rPr>
                <a:t>This template is designed to use the built-in color themes in</a:t>
              </a:r>
              <a:r>
                <a:rPr lang="en-US" sz="4900" baseline="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800"/>
                </a:spcAft>
              </a:pPr>
              <a:r>
                <a:rPr lang="en-US" sz="4900" baseline="0">
                  <a:solidFill>
                    <a:schemeClr val="bg1">
                      <a:lumMod val="50000"/>
                    </a:schemeClr>
                  </a:solidFill>
                  <a:latin typeface="Calibri" pitchFamily="34" charset="0"/>
                  <a:cs typeface="Calibri" panose="020F0502020204030204" pitchFamily="34" charset="0"/>
                </a:rPr>
                <a:t>To change the color theme, select the </a:t>
              </a:r>
              <a:r>
                <a:rPr lang="en-US" sz="4900" b="1" baseline="0">
                  <a:solidFill>
                    <a:schemeClr val="bg1">
                      <a:lumMod val="50000"/>
                    </a:schemeClr>
                  </a:solidFill>
                  <a:latin typeface="Calibri" pitchFamily="34" charset="0"/>
                  <a:cs typeface="Calibri" panose="020F0502020204030204" pitchFamily="34" charset="0"/>
                </a:rPr>
                <a:t>Design</a:t>
              </a:r>
              <a:r>
                <a:rPr lang="en-US" sz="4900" baseline="0">
                  <a:solidFill>
                    <a:schemeClr val="bg1">
                      <a:lumMod val="50000"/>
                    </a:schemeClr>
                  </a:solidFill>
                  <a:latin typeface="Calibri" pitchFamily="34" charset="0"/>
                  <a:cs typeface="Calibri" panose="020F0502020204030204" pitchFamily="34" charset="0"/>
                </a:rPr>
                <a:t> tab, then select the </a:t>
              </a:r>
              <a:r>
                <a:rPr lang="en-US" sz="4900" b="1" baseline="0">
                  <a:solidFill>
                    <a:schemeClr val="bg1">
                      <a:lumMod val="50000"/>
                    </a:schemeClr>
                  </a:solidFill>
                  <a:latin typeface="Calibri" pitchFamily="34" charset="0"/>
                  <a:cs typeface="Calibri" panose="020F0502020204030204" pitchFamily="34" charset="0"/>
                </a:rPr>
                <a:t>Colors</a:t>
              </a:r>
              <a:r>
                <a:rPr lang="en-US" sz="4900" baseline="0">
                  <a:solidFill>
                    <a:schemeClr val="bg1">
                      <a:lumMod val="50000"/>
                    </a:schemeClr>
                  </a:solidFill>
                  <a:latin typeface="Calibri" pitchFamily="34" charset="0"/>
                  <a:cs typeface="Calibri" panose="020F0502020204030204" pitchFamily="34" charset="0"/>
                </a:rPr>
                <a:t> drop-down list.</a:t>
              </a: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baseline="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800"/>
                </a:spcAft>
              </a:pPr>
              <a:r>
                <a:rPr lang="en-US" sz="720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800"/>
                </a:spcAft>
              </a:pPr>
              <a:r>
                <a:rPr lang="en-US" sz="4900">
                  <a:solidFill>
                    <a:schemeClr val="bg1">
                      <a:lumMod val="50000"/>
                    </a:schemeClr>
                  </a:solidFill>
                  <a:latin typeface="Calibri" pitchFamily="34" charset="0"/>
                  <a:cs typeface="Calibri" panose="020F0502020204030204" pitchFamily="34" charset="0"/>
                </a:rPr>
                <a:t>Once your poster file is ready, visit</a:t>
              </a:r>
              <a:r>
                <a:rPr lang="en-US" sz="4900" baseline="0">
                  <a:solidFill>
                    <a:schemeClr val="bg1">
                      <a:lumMod val="50000"/>
                    </a:schemeClr>
                  </a:solidFill>
                  <a:latin typeface="Calibri" pitchFamily="34" charset="0"/>
                  <a:cs typeface="Calibri" panose="020F0502020204030204" pitchFamily="34" charset="0"/>
                </a:rPr>
                <a:t> </a:t>
              </a:r>
              <a:r>
                <a:rPr lang="en-US" sz="4900" b="1" baseline="0">
                  <a:solidFill>
                    <a:schemeClr val="bg1">
                      <a:lumMod val="50000"/>
                    </a:schemeClr>
                  </a:solidFill>
                  <a:latin typeface="Calibri" pitchFamily="34" charset="0"/>
                  <a:cs typeface="Calibri" panose="020F0502020204030204" pitchFamily="34" charset="0"/>
                </a:rPr>
                <a:t>www.genigraphics.com</a:t>
              </a:r>
              <a:r>
                <a:rPr lang="en-US" sz="4900" baseline="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800"/>
                </a:spcAft>
              </a:pPr>
              <a:r>
                <a:rPr lang="en-US" sz="4900" baseline="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4900" baseline="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4900" baseline="0">
                  <a:solidFill>
                    <a:schemeClr val="bg1">
                      <a:lumMod val="50000"/>
                    </a:schemeClr>
                  </a:solidFill>
                  <a:latin typeface="Calibri" pitchFamily="34" charset="0"/>
                  <a:cs typeface="Calibri" panose="020F0502020204030204" pitchFamily="34" charset="0"/>
                </a:rPr>
                <a:t>US and Canada:  1-800-790-4001</a:t>
              </a:r>
              <a:br>
                <a:rPr lang="en-US" sz="4900" baseline="0">
                  <a:solidFill>
                    <a:schemeClr val="bg1">
                      <a:lumMod val="50000"/>
                    </a:schemeClr>
                  </a:solidFill>
                  <a:latin typeface="Calibri" pitchFamily="34" charset="0"/>
                  <a:cs typeface="Calibri" panose="020F0502020204030204" pitchFamily="34" charset="0"/>
                </a:rPr>
              </a:br>
              <a:r>
                <a:rPr lang="en-US" sz="4900" baseline="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3600">
                  <a:solidFill>
                    <a:schemeClr val="bg1">
                      <a:lumMod val="50000"/>
                    </a:schemeClr>
                  </a:solidFill>
                  <a:latin typeface="Calibri" pitchFamily="34" charset="0"/>
                  <a:cs typeface="Calibri" panose="020F0502020204030204" pitchFamily="34" charset="0"/>
                </a:rPr>
              </a:br>
              <a:r>
                <a:rPr lang="en-US" sz="360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a:extLst>
                <a:ext uri="{FF2B5EF4-FFF2-40B4-BE49-F238E27FC236}">
                  <a16:creationId xmlns:a16="http://schemas.microsoft.com/office/drawing/2014/main" id="{7BC9F82D-95DA-49DA-BE65-A0623C7DA1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15" name="Picture 14">
            <a:extLst>
              <a:ext uri="{FF2B5EF4-FFF2-40B4-BE49-F238E27FC236}">
                <a16:creationId xmlns:a16="http://schemas.microsoft.com/office/drawing/2014/main" id="{C3E37D2B-E2A9-420A-AA43-8831BDD4649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404800" y="32613600"/>
            <a:ext cx="5297435" cy="185928"/>
          </a:xfrm>
          <a:prstGeom prst="rect">
            <a:avLst/>
          </a:prstGeom>
        </p:spPr>
      </p:pic>
    </p:spTree>
    <p:extLst>
      <p:ext uri="{BB962C8B-B14F-4D97-AF65-F5344CB8AC3E}">
        <p14:creationId xmlns:p14="http://schemas.microsoft.com/office/powerpoint/2010/main" val="3690493784"/>
      </p:ext>
    </p:extLst>
  </p:cSld>
  <p:clrMap bg1="lt1" tx1="dk1" bg2="lt2" tx2="dk2" accent1="accent1" accent2="accent2" accent3="accent3" accent4="accent4" accent5="accent5" accent6="accent6" hlink="hlink" folHlink="folHlink"/>
  <p:sldLayoutIdLst>
    <p:sldLayoutId id="2147483715" r:id="rId1"/>
  </p:sldLayoutIdLst>
  <p:txStyles>
    <p:titleStyle>
      <a:lvl1pPr algn="l" defTabSz="3291840" rtl="0" eaLnBrk="1" latinLnBrk="0" hangingPunct="1">
        <a:lnSpc>
          <a:spcPct val="90000"/>
        </a:lnSpc>
        <a:spcBef>
          <a:spcPct val="0"/>
        </a:spcBef>
        <a:buNone/>
        <a:defRPr sz="8000" b="0" kern="1200">
          <a:solidFill>
            <a:schemeClr val="tx1"/>
          </a:solidFill>
          <a:latin typeface="Calibri" panose="020F0502020204030204" pitchFamily="34" charset="0"/>
          <a:ea typeface="+mj-ea"/>
          <a:cs typeface="Calibri" panose="020F0502020204030204" pitchFamily="34" charset="0"/>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800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660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54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Box 192">
            <a:extLst>
              <a:ext uri="{FF2B5EF4-FFF2-40B4-BE49-F238E27FC236}">
                <a16:creationId xmlns:a16="http://schemas.microsoft.com/office/drawing/2014/main" id="{2B84E5E7-110E-BC4A-3999-A7371C27AEA3}"/>
              </a:ext>
            </a:extLst>
          </p:cNvPr>
          <p:cNvSpPr txBox="1">
            <a:spLocks noChangeArrowheads="1"/>
          </p:cNvSpPr>
          <p:nvPr/>
        </p:nvSpPr>
        <p:spPr bwMode="auto">
          <a:xfrm>
            <a:off x="1463040" y="5311123"/>
            <a:ext cx="13251385" cy="9978070"/>
          </a:xfrm>
          <a:prstGeom prst="rect">
            <a:avLst/>
          </a:prstGeom>
          <a:solidFill>
            <a:schemeClr val="bg1"/>
          </a:solidFill>
          <a:ln w="12700">
            <a:solidFill>
              <a:schemeClr val="accent1">
                <a:lumMod val="75000"/>
              </a:schemeClr>
            </a:solidFill>
          </a:ln>
          <a:effectLst/>
        </p:spPr>
        <p:txBody>
          <a:bodyPr wrap="square" lIns="137137" tIns="137137" rIns="137137" bIns="137137" anchor="t">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p:txBody>
      </p:sp>
      <p:sp>
        <p:nvSpPr>
          <p:cNvPr id="5" name="Text Box 123"/>
          <p:cNvSpPr txBox="1">
            <a:spLocks noChangeArrowheads="1"/>
          </p:cNvSpPr>
          <p:nvPr/>
        </p:nvSpPr>
        <p:spPr bwMode="auto">
          <a:xfrm>
            <a:off x="5651140" y="1805356"/>
            <a:ext cx="32918400" cy="2093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137137" rIns="137137" bIns="137137"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000" baseline="30000" dirty="0">
                <a:solidFill>
                  <a:schemeClr val="bg1"/>
                </a:solidFill>
                <a:latin typeface="Times New Roman" panose="02020603050405020304" pitchFamily="18" charset="0"/>
                <a:cs typeface="Times New Roman" panose="02020603050405020304" pitchFamily="18" charset="0"/>
              </a:rPr>
              <a:t>¥</a:t>
            </a:r>
            <a:r>
              <a:rPr lang="en-US" sz="4000" dirty="0">
                <a:solidFill>
                  <a:schemeClr val="bg1"/>
                </a:solidFill>
                <a:latin typeface="Times New Roman" panose="02020603050405020304" pitchFamily="18" charset="0"/>
                <a:cs typeface="Times New Roman" panose="02020603050405020304" pitchFamily="18" charset="0"/>
              </a:rPr>
              <a:t>Jianna Evans, </a:t>
            </a:r>
            <a:r>
              <a:rPr lang="en-US" sz="4000" baseline="30000" dirty="0">
                <a:solidFill>
                  <a:schemeClr val="bg1"/>
                </a:solidFill>
                <a:latin typeface="Times New Roman" panose="02020603050405020304" pitchFamily="18" charset="0"/>
                <a:cs typeface="Times New Roman" panose="02020603050405020304" pitchFamily="18" charset="0"/>
              </a:rPr>
              <a:t>¥</a:t>
            </a:r>
            <a:r>
              <a:rPr lang="en-US" sz="4000" dirty="0">
                <a:solidFill>
                  <a:schemeClr val="bg1"/>
                </a:solidFill>
                <a:latin typeface="Times New Roman" panose="02020603050405020304" pitchFamily="18" charset="0"/>
                <a:cs typeface="Times New Roman" panose="02020603050405020304" pitchFamily="18" charset="0"/>
              </a:rPr>
              <a:t>Destiny Darden, </a:t>
            </a:r>
            <a:r>
              <a:rPr lang="en-US" sz="4000" baseline="30000" dirty="0">
                <a:solidFill>
                  <a:schemeClr val="bg1"/>
                </a:solidFill>
                <a:latin typeface="Times New Roman" panose="02020603050405020304" pitchFamily="18" charset="0"/>
                <a:cs typeface="Times New Roman" panose="02020603050405020304" pitchFamily="18" charset="0"/>
              </a:rPr>
              <a:t>¥ </a:t>
            </a:r>
            <a:r>
              <a:rPr lang="en-US" sz="4000" dirty="0">
                <a:solidFill>
                  <a:schemeClr val="bg1"/>
                </a:solidFill>
                <a:latin typeface="Times New Roman" panose="02020603050405020304" pitchFamily="18" charset="0"/>
                <a:cs typeface="Times New Roman" panose="02020603050405020304" pitchFamily="18" charset="0"/>
              </a:rPr>
              <a:t>Dr. Narasimhan Sujatha, </a:t>
            </a:r>
            <a:r>
              <a:rPr lang="en-US" sz="4000" baseline="30000" dirty="0">
                <a:solidFill>
                  <a:schemeClr val="bg1"/>
                </a:solidFill>
                <a:latin typeface="Times New Roman" panose="02020603050405020304" pitchFamily="18" charset="0"/>
                <a:cs typeface="Times New Roman" panose="02020603050405020304" pitchFamily="18" charset="0"/>
              </a:rPr>
              <a:t>±</a:t>
            </a:r>
            <a:r>
              <a:rPr lang="en-US" sz="4000" dirty="0">
                <a:solidFill>
                  <a:schemeClr val="bg1"/>
                </a:solidFill>
                <a:latin typeface="Times New Roman" panose="02020603050405020304" pitchFamily="18" charset="0"/>
                <a:cs typeface="Times New Roman" panose="02020603050405020304" pitchFamily="18" charset="0"/>
              </a:rPr>
              <a:t>Dr. Daniel Autrey,  </a:t>
            </a:r>
            <a:r>
              <a:rPr lang="en-US" sz="4000" baseline="30000" dirty="0">
                <a:solidFill>
                  <a:schemeClr val="bg1"/>
                </a:solidFill>
                <a:latin typeface="Times New Roman" panose="02020603050405020304" pitchFamily="18" charset="0"/>
                <a:cs typeface="Times New Roman" panose="02020603050405020304" pitchFamily="18" charset="0"/>
              </a:rPr>
              <a:t>±</a:t>
            </a:r>
            <a:r>
              <a:rPr lang="en-US" sz="4000" dirty="0">
                <a:solidFill>
                  <a:schemeClr val="bg1"/>
                </a:solidFill>
                <a:latin typeface="Times New Roman" panose="02020603050405020304" pitchFamily="18" charset="0"/>
                <a:cs typeface="Times New Roman" panose="02020603050405020304" pitchFamily="18" charset="0"/>
              </a:rPr>
              <a:t>Dr. </a:t>
            </a:r>
            <a:r>
              <a:rPr lang="en-US" sz="4000" dirty="0" err="1">
                <a:solidFill>
                  <a:schemeClr val="bg1"/>
                </a:solidFill>
                <a:latin typeface="Times New Roman" panose="02020603050405020304" pitchFamily="18" charset="0"/>
                <a:cs typeface="Times New Roman" panose="02020603050405020304" pitchFamily="18" charset="0"/>
              </a:rPr>
              <a:t>Bhoj</a:t>
            </a:r>
            <a:r>
              <a:rPr lang="en-US" sz="4000" dirty="0">
                <a:solidFill>
                  <a:schemeClr val="bg1"/>
                </a:solidFill>
                <a:latin typeface="Times New Roman" panose="02020603050405020304" pitchFamily="18" charset="0"/>
                <a:cs typeface="Times New Roman" panose="02020603050405020304" pitchFamily="18" charset="0"/>
              </a:rPr>
              <a:t> Gautam</a:t>
            </a:r>
          </a:p>
          <a:p>
            <a:pPr algn="ctr" eaLnBrk="1" hangingPunct="1"/>
            <a:r>
              <a:rPr lang="en-US" sz="4000" baseline="30000" dirty="0">
                <a:solidFill>
                  <a:schemeClr val="bg1"/>
                </a:solidFill>
                <a:latin typeface="Times New Roman" panose="02020603050405020304" pitchFamily="18" charset="0"/>
                <a:cs typeface="Times New Roman" panose="02020603050405020304" pitchFamily="18" charset="0"/>
              </a:rPr>
              <a:t>¥,</a:t>
            </a:r>
            <a:r>
              <a:rPr lang="en-US" sz="4000" dirty="0">
                <a:solidFill>
                  <a:schemeClr val="bg1"/>
                </a:solidFill>
                <a:latin typeface="Times New Roman" panose="02020603050405020304" pitchFamily="18" charset="0"/>
                <a:cs typeface="Times New Roman" panose="02020603050405020304" pitchFamily="18" charset="0"/>
              </a:rPr>
              <a:t>Wake Technical Community College, Raleigh, North Carolina, 27603 </a:t>
            </a:r>
          </a:p>
          <a:p>
            <a:pPr algn="ctr" eaLnBrk="1" hangingPunct="1"/>
            <a:r>
              <a:rPr lang="en-US" sz="4000" baseline="30000" dirty="0">
                <a:solidFill>
                  <a:schemeClr val="bg1"/>
                </a:solidFill>
                <a:latin typeface="Times New Roman" panose="02020603050405020304" pitchFamily="18" charset="0"/>
                <a:cs typeface="Times New Roman" panose="02020603050405020304" pitchFamily="18" charset="0"/>
              </a:rPr>
              <a:t>± </a:t>
            </a:r>
            <a:r>
              <a:rPr lang="en-US" sz="4000" dirty="0">
                <a:solidFill>
                  <a:schemeClr val="bg1"/>
                </a:solidFill>
                <a:latin typeface="Times New Roman" panose="02020603050405020304" pitchFamily="18" charset="0"/>
                <a:cs typeface="Times New Roman" panose="02020603050405020304" pitchFamily="18" charset="0"/>
              </a:rPr>
              <a:t>Department of Chemistry, Physics, and Materials Science, Fayetteville State University, Fayetteville, North Carolina, 28306</a:t>
            </a:r>
            <a:endParaRPr lang="en-US"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1706881" y="30038039"/>
            <a:ext cx="12923519" cy="2285229"/>
          </a:xfrm>
          <a:prstGeom prst="rect">
            <a:avLst/>
          </a:prstGeom>
          <a:noFill/>
        </p:spPr>
        <p:txBody>
          <a:bodyPr wrap="square" lIns="68568" tIns="34284" rIns="68568" bIns="34284" rtlCol="0" anchor="t">
            <a:spAutoFit/>
          </a:bodyPr>
          <a:lstStyle/>
          <a:p>
            <a:r>
              <a:rPr lang="en-US" sz="4800" dirty="0">
                <a:latin typeface="Times New Roman" panose="02020603050405020304" pitchFamily="18" charset="0"/>
                <a:cs typeface="Times New Roman" panose="02020603050405020304" pitchFamily="18" charset="0"/>
              </a:rPr>
              <a:t>Jianna Evans</a:t>
            </a:r>
          </a:p>
          <a:p>
            <a:r>
              <a:rPr lang="en-US" sz="4800" dirty="0">
                <a:latin typeface="Times New Roman" panose="02020603050405020304" pitchFamily="18" charset="0"/>
                <a:cs typeface="Times New Roman" panose="02020603050405020304" pitchFamily="18" charset="0"/>
              </a:rPr>
              <a:t>Wake Technical Community College</a:t>
            </a:r>
          </a:p>
          <a:p>
            <a:r>
              <a:rPr lang="en-US" sz="4800" dirty="0">
                <a:latin typeface="Times New Roman" panose="02020603050405020304" pitchFamily="18" charset="0"/>
                <a:cs typeface="Times New Roman" panose="02020603050405020304" pitchFamily="18" charset="0"/>
              </a:rPr>
              <a:t>Email: jbevans@my.waketech.edu</a:t>
            </a:r>
          </a:p>
        </p:txBody>
      </p:sp>
      <p:sp>
        <p:nvSpPr>
          <p:cNvPr id="25" name="TextBox 24"/>
          <p:cNvSpPr txBox="1"/>
          <p:nvPr/>
        </p:nvSpPr>
        <p:spPr>
          <a:xfrm>
            <a:off x="1706880" y="29146502"/>
            <a:ext cx="3092810" cy="1115678"/>
          </a:xfrm>
          <a:prstGeom prst="rect">
            <a:avLst/>
          </a:prstGeom>
          <a:noFill/>
        </p:spPr>
        <p:txBody>
          <a:bodyPr wrap="none" lIns="68568" tIns="34284" rIns="68568" bIns="34284" rtlCol="0">
            <a:spAutoFit/>
          </a:bodyPr>
          <a:lstStyle/>
          <a:p>
            <a:r>
              <a:rPr lang="en-US" sz="6800" b="1" dirty="0">
                <a:latin typeface="Times New Roman" panose="02020603050405020304" pitchFamily="18" charset="0"/>
                <a:cs typeface="Times New Roman" panose="02020603050405020304" pitchFamily="18" charset="0"/>
              </a:rPr>
              <a:t>Contact</a:t>
            </a:r>
          </a:p>
        </p:txBody>
      </p:sp>
      <p:sp>
        <p:nvSpPr>
          <p:cNvPr id="32" name="Rectangle 31"/>
          <p:cNvSpPr/>
          <p:nvPr/>
        </p:nvSpPr>
        <p:spPr>
          <a:xfrm>
            <a:off x="1547065" y="4382821"/>
            <a:ext cx="13167360" cy="685800"/>
          </a:xfrm>
          <a:prstGeom prst="rect">
            <a:avLst/>
          </a:prstGeom>
          <a:solidFill>
            <a:srgbClr val="F8DC6C"/>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a:solidFill>
                  <a:schemeClr val="accent1">
                    <a:lumMod val="50000"/>
                  </a:schemeClr>
                </a:solidFill>
              </a:rPr>
              <a:t>Introduction</a:t>
            </a:r>
          </a:p>
        </p:txBody>
      </p:sp>
      <p:sp>
        <p:nvSpPr>
          <p:cNvPr id="15" name="Text Box 194"/>
          <p:cNvSpPr txBox="1">
            <a:spLocks noChangeArrowheads="1"/>
          </p:cNvSpPr>
          <p:nvPr/>
        </p:nvSpPr>
        <p:spPr bwMode="auto">
          <a:xfrm>
            <a:off x="15449941" y="13885775"/>
            <a:ext cx="26722148" cy="12095572"/>
          </a:xfrm>
          <a:prstGeom prst="rect">
            <a:avLst/>
          </a:prstGeom>
          <a:solidFill>
            <a:schemeClr val="bg1"/>
          </a:solidFill>
          <a:ln w="12700">
            <a:solidFill>
              <a:schemeClr val="accent1">
                <a:lumMod val="75000"/>
              </a:schemeClr>
            </a:solidFill>
          </a:ln>
          <a:effectLst/>
        </p:spPr>
        <p:txBody>
          <a:bodyPr wrap="square" lIns="137137" tIns="137137" rIns="137137" bIns="137137" anchor="t">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a:p>
            <a:pPr eaLnBrk="1" hangingPunct="1"/>
            <a:endParaRPr lang="en-US" sz="3200" dirty="0">
              <a:latin typeface="Calibri" pitchFamily="34" charset="0"/>
              <a:cs typeface="Calibri"/>
            </a:endParaRPr>
          </a:p>
        </p:txBody>
      </p:sp>
      <p:sp>
        <p:nvSpPr>
          <p:cNvPr id="33" name="Rectangle 32"/>
          <p:cNvSpPr/>
          <p:nvPr/>
        </p:nvSpPr>
        <p:spPr>
          <a:xfrm>
            <a:off x="1296451" y="16339816"/>
            <a:ext cx="13167360" cy="732331"/>
          </a:xfrm>
          <a:prstGeom prst="rect">
            <a:avLst/>
          </a:prstGeom>
          <a:solidFill>
            <a:srgbClr val="F8DC6C"/>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1">
                    <a:lumMod val="50000"/>
                  </a:schemeClr>
                </a:solidFill>
              </a:rPr>
              <a:t>Objectives</a:t>
            </a:r>
          </a:p>
        </p:txBody>
      </p:sp>
      <p:sp>
        <p:nvSpPr>
          <p:cNvPr id="13" name="Text Box 192"/>
          <p:cNvSpPr txBox="1">
            <a:spLocks noChangeArrowheads="1"/>
          </p:cNvSpPr>
          <p:nvPr/>
        </p:nvSpPr>
        <p:spPr bwMode="auto">
          <a:xfrm>
            <a:off x="15361919" y="5490552"/>
            <a:ext cx="13716695" cy="7269636"/>
          </a:xfrm>
          <a:prstGeom prst="rect">
            <a:avLst/>
          </a:prstGeom>
          <a:solidFill>
            <a:schemeClr val="bg1"/>
          </a:solidFill>
          <a:ln w="12700">
            <a:solidFill>
              <a:schemeClr val="accent1">
                <a:lumMod val="75000"/>
              </a:schemeClr>
            </a:solidFill>
          </a:ln>
          <a:effectLst/>
        </p:spPr>
        <p:txBody>
          <a:bodyPr wrap="square" lIns="137137" tIns="137137" rIns="137137" bIns="137137" anchor="t">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p:txBody>
      </p:sp>
      <p:sp>
        <p:nvSpPr>
          <p:cNvPr id="34" name="Rectangle 33"/>
          <p:cNvSpPr/>
          <p:nvPr/>
        </p:nvSpPr>
        <p:spPr>
          <a:xfrm>
            <a:off x="15361920" y="4384245"/>
            <a:ext cx="13167360" cy="685800"/>
          </a:xfrm>
          <a:prstGeom prst="rect">
            <a:avLst/>
          </a:prstGeom>
          <a:solidFill>
            <a:srgbClr val="F8DC6C"/>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a:solidFill>
                  <a:schemeClr val="accent1">
                    <a:lumMod val="50000"/>
                  </a:schemeClr>
                </a:solidFill>
              </a:rPr>
              <a:t>Methods and Materials</a:t>
            </a:r>
          </a:p>
        </p:txBody>
      </p:sp>
      <p:sp>
        <p:nvSpPr>
          <p:cNvPr id="14" name="Text Box 193"/>
          <p:cNvSpPr txBox="1">
            <a:spLocks noChangeArrowheads="1"/>
          </p:cNvSpPr>
          <p:nvPr/>
        </p:nvSpPr>
        <p:spPr bwMode="auto">
          <a:xfrm>
            <a:off x="15523133" y="27194156"/>
            <a:ext cx="26722148" cy="1261837"/>
          </a:xfrm>
          <a:prstGeom prst="rect">
            <a:avLst/>
          </a:prstGeom>
          <a:solidFill>
            <a:schemeClr val="bg1"/>
          </a:solidFill>
          <a:ln w="12700">
            <a:solidFill>
              <a:schemeClr val="accent1">
                <a:lumMod val="75000"/>
              </a:schemeClr>
            </a:solidFill>
          </a:ln>
          <a:effectLst/>
        </p:spPr>
        <p:txBody>
          <a:bodyPr wrap="square" lIns="137137" tIns="137137" rIns="137137" bIns="137137" anchor="t">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l"/>
            <a:r>
              <a:rPr lang="en-US" sz="3200" b="0" dirty="0">
                <a:solidFill>
                  <a:srgbClr val="201F1E"/>
                </a:solidFill>
                <a:effectLst/>
                <a:latin typeface="+mn-lt"/>
              </a:rPr>
              <a:t>This work is supported by the National Science Foundation (NSF) PD 21‐7980 Advancing  Innovation and Impact in Undergraduate STEM Education at Two‐year Institutions of Higher Education grant program, DUE‐2133600,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NSF RIA </a:t>
            </a:r>
            <a:r>
              <a:rPr lang="de-DE" sz="3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HRD </a:t>
            </a:r>
            <a:r>
              <a:rPr lang="en-US" sz="3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1900998</a:t>
            </a:r>
            <a:r>
              <a:rPr lang="en-US" sz="32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and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NSF RIA </a:t>
            </a:r>
            <a:r>
              <a:rPr lang="de-DE" sz="3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HRD </a:t>
            </a:r>
            <a:r>
              <a:rPr lang="en-US" sz="32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1800795.</a:t>
            </a:r>
            <a:endParaRPr lang="en-US" sz="3200" dirty="0">
              <a:latin typeface="Calibri"/>
              <a:cs typeface="Calibri"/>
            </a:endParaRPr>
          </a:p>
        </p:txBody>
      </p:sp>
      <p:sp>
        <p:nvSpPr>
          <p:cNvPr id="36" name="Rectangle 35"/>
          <p:cNvSpPr/>
          <p:nvPr/>
        </p:nvSpPr>
        <p:spPr>
          <a:xfrm>
            <a:off x="20930225" y="26221914"/>
            <a:ext cx="13167360" cy="685800"/>
          </a:xfrm>
          <a:prstGeom prst="rect">
            <a:avLst/>
          </a:prstGeom>
          <a:solidFill>
            <a:srgbClr val="F8DC6C"/>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a:solidFill>
                  <a:schemeClr val="accent1">
                    <a:lumMod val="50000"/>
                  </a:schemeClr>
                </a:solidFill>
              </a:rPr>
              <a:t>Acknowledgments</a:t>
            </a:r>
          </a:p>
        </p:txBody>
      </p:sp>
      <p:sp>
        <p:nvSpPr>
          <p:cNvPr id="11" name="Text Box 190"/>
          <p:cNvSpPr txBox="1">
            <a:spLocks noChangeArrowheads="1"/>
          </p:cNvSpPr>
          <p:nvPr/>
        </p:nvSpPr>
        <p:spPr bwMode="auto">
          <a:xfrm>
            <a:off x="1362612" y="17629208"/>
            <a:ext cx="13167360" cy="1754280"/>
          </a:xfrm>
          <a:prstGeom prst="rect">
            <a:avLst/>
          </a:prstGeom>
          <a:solidFill>
            <a:schemeClr val="bg1"/>
          </a:solidFill>
          <a:ln w="12700">
            <a:solidFill>
              <a:schemeClr val="accent1">
                <a:lumMod val="75000"/>
              </a:schemeClr>
            </a:solidFill>
          </a:ln>
          <a:effectLst/>
        </p:spPr>
        <p:txBody>
          <a:bodyPr wrap="square" lIns="137137" tIns="137137" rIns="137137" bIns="137137" anchor="t">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571500" indent="-571500" fontAlgn="base">
              <a:spcAft>
                <a:spcPts val="800"/>
              </a:spcAft>
              <a:buFont typeface="Arial" panose="020B0604020202020204" pitchFamily="34" charset="0"/>
              <a:buChar char="•"/>
            </a:pPr>
            <a:r>
              <a:rPr lang="en-US" sz="4800" dirty="0">
                <a:latin typeface="Times New Roman" panose="02020603050405020304" pitchFamily="18" charset="0"/>
                <a:cs typeface="Times New Roman" panose="02020603050405020304" pitchFamily="18" charset="0"/>
              </a:rPr>
              <a:t>To study the impact laser wavelength on the Raman features of  2D </a:t>
            </a:r>
            <a:r>
              <a:rPr lang="en-US" sz="4800">
                <a:latin typeface="Times New Roman" panose="02020603050405020304" pitchFamily="18" charset="0"/>
                <a:cs typeface="Times New Roman" panose="02020603050405020304" pitchFamily="18" charset="0"/>
              </a:rPr>
              <a:t>Mxenes</a:t>
            </a:r>
            <a:r>
              <a:rPr lang="en-US" sz="4800" dirty="0">
                <a:latin typeface="Times New Roman" panose="02020603050405020304" pitchFamily="18" charset="0"/>
                <a:cs typeface="Times New Roman" panose="02020603050405020304" pitchFamily="18" charset="0"/>
              </a:rPr>
              <a:t>. </a:t>
            </a:r>
            <a:endParaRPr lang="en-US" sz="48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5" name="Rectangle 44"/>
          <p:cNvSpPr/>
          <p:nvPr/>
        </p:nvSpPr>
        <p:spPr>
          <a:xfrm>
            <a:off x="15340252" y="12917635"/>
            <a:ext cx="26722148" cy="758625"/>
          </a:xfrm>
          <a:prstGeom prst="rect">
            <a:avLst/>
          </a:prstGeom>
          <a:solidFill>
            <a:srgbClr val="F8DC6C"/>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a:solidFill>
                  <a:schemeClr val="accent1">
                    <a:lumMod val="50000"/>
                  </a:schemeClr>
                </a:solidFill>
              </a:rPr>
              <a:t>Results</a:t>
            </a:r>
          </a:p>
        </p:txBody>
      </p:sp>
      <p:sp>
        <p:nvSpPr>
          <p:cNvPr id="35" name="Text Box 193"/>
          <p:cNvSpPr txBox="1">
            <a:spLocks noChangeArrowheads="1"/>
          </p:cNvSpPr>
          <p:nvPr/>
        </p:nvSpPr>
        <p:spPr bwMode="auto">
          <a:xfrm>
            <a:off x="29307155" y="5482515"/>
            <a:ext cx="12858922" cy="7048037"/>
          </a:xfrm>
          <a:prstGeom prst="rect">
            <a:avLst/>
          </a:prstGeom>
          <a:solidFill>
            <a:schemeClr val="bg1"/>
          </a:solidFill>
          <a:ln w="12700">
            <a:solidFill>
              <a:schemeClr val="accent1">
                <a:lumMod val="75000"/>
              </a:schemeClr>
            </a:solidFill>
          </a:ln>
          <a:effectLst/>
        </p:spPr>
        <p:txBody>
          <a:bodyPr wrap="square" lIns="137137" tIns="137137" rIns="137137" bIns="137137" anchor="t">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342900" indent="-342900" eaLnBrk="1" hangingPunct="1">
              <a:spcBef>
                <a:spcPct val="50000"/>
              </a:spcBef>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We observe the presence of a low angle peak 5.64</a:t>
            </a:r>
            <a:r>
              <a:rPr lang="en-US" sz="4000" baseline="30000" dirty="0">
                <a:latin typeface="Times New Roman" panose="02020603050405020304" pitchFamily="18" charset="0"/>
                <a:cs typeface="Times New Roman" panose="02020603050405020304" pitchFamily="18" charset="0"/>
              </a:rPr>
              <a:t>0 </a:t>
            </a:r>
            <a:r>
              <a:rPr lang="en-US" sz="4000" dirty="0">
                <a:latin typeface="Times New Roman" panose="02020603050405020304" pitchFamily="18" charset="0"/>
                <a:cs typeface="Times New Roman" panose="02020603050405020304" pitchFamily="18" charset="0"/>
              </a:rPr>
              <a:t>in the XRD patterns which is attributed to the removal of the Al layer from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Ti</a:t>
            </a:r>
            <a:r>
              <a:rPr lang="en-US" sz="40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AlC</a:t>
            </a:r>
            <a:r>
              <a:rPr lang="en-US" sz="4000" baseline="-25000" dirty="0">
                <a:latin typeface="Times New Roman" panose="02020603050405020304" pitchFamily="18" charset="0"/>
                <a:ea typeface="Calibri" panose="020F0502020204030204" pitchFamily="34" charset="0"/>
                <a:cs typeface="Times New Roman" panose="02020603050405020304" pitchFamily="18" charset="0"/>
              </a:rPr>
              <a:t>2 </a:t>
            </a:r>
            <a:r>
              <a:rPr lang="en-US" sz="4000" dirty="0">
                <a:latin typeface="Times New Roman" panose="02020603050405020304" pitchFamily="18" charset="0"/>
                <a:cs typeface="Times New Roman" panose="02020603050405020304" pitchFamily="18" charset="0"/>
              </a:rPr>
              <a:t>and the introduction of surface terminations on Ti</a:t>
            </a:r>
            <a:r>
              <a:rPr lang="en-US" sz="4000" baseline="-25000" dirty="0">
                <a:latin typeface="Times New Roman" panose="02020603050405020304" pitchFamily="18" charset="0"/>
                <a:cs typeface="Times New Roman" panose="02020603050405020304" pitchFamily="18" charset="0"/>
              </a:rPr>
              <a:t>3</a:t>
            </a:r>
            <a:r>
              <a:rPr lang="en-US" sz="4000" dirty="0">
                <a:latin typeface="Times New Roman" panose="02020603050405020304" pitchFamily="18" charset="0"/>
                <a:cs typeface="Times New Roman" panose="02020603050405020304" pitchFamily="18" charset="0"/>
              </a:rPr>
              <a:t>C</a:t>
            </a:r>
            <a:r>
              <a:rPr lang="en-US" sz="4000" baseline="-25000" dirty="0">
                <a:latin typeface="Times New Roman" panose="02020603050405020304" pitchFamily="18" charset="0"/>
                <a:cs typeface="Times New Roman" panose="02020603050405020304" pitchFamily="18" charset="0"/>
              </a:rPr>
              <a:t>2</a:t>
            </a:r>
            <a:r>
              <a:rPr lang="en-US" sz="4000" dirty="0">
                <a:latin typeface="Times New Roman" panose="02020603050405020304" pitchFamily="18" charset="0"/>
                <a:cs typeface="Times New Roman" panose="02020603050405020304" pitchFamily="18" charset="0"/>
              </a:rPr>
              <a:t> layers.</a:t>
            </a:r>
          </a:p>
          <a:p>
            <a:pPr marL="342900" indent="-342900" eaLnBrk="1" hangingPunct="1">
              <a:spcBef>
                <a:spcPct val="50000"/>
              </a:spcBef>
              <a:buFont typeface="Arial" panose="020B0604020202020204" pitchFamily="34" charset="0"/>
              <a:buChar char="•"/>
            </a:pPr>
            <a:r>
              <a:rPr lang="en-US" altLang="ja-JP" sz="4000" dirty="0">
                <a:latin typeface="Times New Roman" panose="02020603050405020304" pitchFamily="18" charset="0"/>
                <a:cs typeface="Times New Roman" panose="02020603050405020304" pitchFamily="18" charset="0"/>
              </a:rPr>
              <a:t>We observed higher intensity when excited with 532 nm laser compared to the 785 nm laser for the same laser power and 1300 cm</a:t>
            </a:r>
            <a:r>
              <a:rPr lang="en-US" altLang="ja-JP" sz="4000" baseline="30000" dirty="0">
                <a:latin typeface="Times New Roman" panose="02020603050405020304" pitchFamily="18" charset="0"/>
                <a:cs typeface="Times New Roman" panose="02020603050405020304" pitchFamily="18" charset="0"/>
              </a:rPr>
              <a:t>-1</a:t>
            </a:r>
            <a:r>
              <a:rPr lang="en-US" altLang="ja-JP" sz="4000" dirty="0">
                <a:latin typeface="Times New Roman" panose="02020603050405020304" pitchFamily="18" charset="0"/>
                <a:cs typeface="Times New Roman" panose="02020603050405020304" pitchFamily="18" charset="0"/>
              </a:rPr>
              <a:t> Raman mode is enhanced for 785 nm excitation.</a:t>
            </a:r>
          </a:p>
          <a:p>
            <a:pPr marL="571500" indent="-571500" eaLnBrk="1" hangingPunct="1">
              <a:spcBef>
                <a:spcPct val="50000"/>
              </a:spcBef>
              <a:buFont typeface="Arial" panose="020B0604020202020204" pitchFamily="34" charset="0"/>
              <a:buChar char="•"/>
            </a:pPr>
            <a:r>
              <a:rPr lang="en-US" altLang="ja-JP" sz="4000" dirty="0">
                <a:latin typeface="Times New Roman" panose="02020603050405020304" pitchFamily="18" charset="0"/>
                <a:cs typeface="Times New Roman" panose="02020603050405020304" pitchFamily="18" charset="0"/>
              </a:rPr>
              <a:t>Our results suggest that Raman features depend on excitation wavelength. </a:t>
            </a:r>
            <a:endParaRPr lang="en-US" sz="4000" dirty="0">
              <a:latin typeface="Calibri" pitchFamily="34" charset="0"/>
            </a:endParaRPr>
          </a:p>
        </p:txBody>
      </p:sp>
      <p:sp>
        <p:nvSpPr>
          <p:cNvPr id="41" name="Rectangle 40"/>
          <p:cNvSpPr/>
          <p:nvPr/>
        </p:nvSpPr>
        <p:spPr>
          <a:xfrm>
            <a:off x="29078615" y="4361675"/>
            <a:ext cx="13167360" cy="685800"/>
          </a:xfrm>
          <a:prstGeom prst="rect">
            <a:avLst/>
          </a:prstGeom>
          <a:solidFill>
            <a:srgbClr val="F8DC6C"/>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1">
                    <a:lumMod val="50000"/>
                  </a:schemeClr>
                </a:solidFill>
              </a:rPr>
              <a:t>Conclusions or Implications</a:t>
            </a:r>
          </a:p>
        </p:txBody>
      </p:sp>
      <p:pic>
        <p:nvPicPr>
          <p:cNvPr id="6" name="Picture 6" descr="A picture containing logo&#10;&#10;Description automatically generated">
            <a:extLst>
              <a:ext uri="{FF2B5EF4-FFF2-40B4-BE49-F238E27FC236}">
                <a16:creationId xmlns:a16="http://schemas.microsoft.com/office/drawing/2014/main" id="{2A62AE1F-0D34-420C-9A25-804E073568C5}"/>
              </a:ext>
            </a:extLst>
          </p:cNvPr>
          <p:cNvPicPr>
            <a:picLocks noChangeAspect="1"/>
          </p:cNvPicPr>
          <p:nvPr/>
        </p:nvPicPr>
        <p:blipFill>
          <a:blip r:embed="rId3"/>
          <a:stretch>
            <a:fillRect/>
          </a:stretch>
        </p:blipFill>
        <p:spPr>
          <a:xfrm>
            <a:off x="40788766" y="638477"/>
            <a:ext cx="2754623" cy="2832783"/>
          </a:xfrm>
          <a:prstGeom prst="rect">
            <a:avLst/>
          </a:prstGeom>
        </p:spPr>
      </p:pic>
      <p:pic>
        <p:nvPicPr>
          <p:cNvPr id="12" name="Picture 15" descr="A picture containing text, transport, wheel&#10;&#10;Description automatically generated">
            <a:extLst>
              <a:ext uri="{FF2B5EF4-FFF2-40B4-BE49-F238E27FC236}">
                <a16:creationId xmlns:a16="http://schemas.microsoft.com/office/drawing/2014/main" id="{E1DF0DD9-30CE-4340-9B1E-8D93B7CEA065}"/>
              </a:ext>
            </a:extLst>
          </p:cNvPr>
          <p:cNvPicPr>
            <a:picLocks noChangeAspect="1"/>
          </p:cNvPicPr>
          <p:nvPr/>
        </p:nvPicPr>
        <p:blipFill>
          <a:blip r:embed="rId4"/>
          <a:stretch>
            <a:fillRect/>
          </a:stretch>
        </p:blipFill>
        <p:spPr>
          <a:xfrm>
            <a:off x="936333" y="281323"/>
            <a:ext cx="3492265" cy="3547092"/>
          </a:xfrm>
          <a:prstGeom prst="rect">
            <a:avLst/>
          </a:prstGeom>
        </p:spPr>
      </p:pic>
      <p:pic>
        <p:nvPicPr>
          <p:cNvPr id="9" name="Picture 8">
            <a:extLst>
              <a:ext uri="{FF2B5EF4-FFF2-40B4-BE49-F238E27FC236}">
                <a16:creationId xmlns:a16="http://schemas.microsoft.com/office/drawing/2014/main" id="{8C146915-3FA0-4CA0-A44A-C7921C4D6A88}"/>
              </a:ext>
            </a:extLst>
          </p:cNvPr>
          <p:cNvPicPr>
            <a:picLocks noChangeAspect="1"/>
          </p:cNvPicPr>
          <p:nvPr/>
        </p:nvPicPr>
        <p:blipFill>
          <a:blip r:embed="rId5"/>
          <a:stretch>
            <a:fillRect/>
          </a:stretch>
        </p:blipFill>
        <p:spPr>
          <a:xfrm>
            <a:off x="35263101" y="-667674"/>
            <a:ext cx="6405161" cy="3035972"/>
          </a:xfrm>
          <a:prstGeom prst="rect">
            <a:avLst/>
          </a:prstGeom>
        </p:spPr>
      </p:pic>
      <p:pic>
        <p:nvPicPr>
          <p:cNvPr id="16" name="Picture 15">
            <a:extLst>
              <a:ext uri="{FF2B5EF4-FFF2-40B4-BE49-F238E27FC236}">
                <a16:creationId xmlns:a16="http://schemas.microsoft.com/office/drawing/2014/main" id="{4875F85B-5107-D946-B2EB-E7805A43C480}"/>
              </a:ext>
            </a:extLst>
          </p:cNvPr>
          <p:cNvPicPr/>
          <p:nvPr/>
        </p:nvPicPr>
        <p:blipFill rotWithShape="1">
          <a:blip r:embed="rId6" cstate="print">
            <a:extLst>
              <a:ext uri="{28A0092B-C50C-407E-A947-70E740481C1C}">
                <a14:useLocalDpi xmlns:a14="http://schemas.microsoft.com/office/drawing/2010/main" val="0"/>
              </a:ext>
            </a:extLst>
          </a:blip>
          <a:srcRect l="3794"/>
          <a:stretch/>
        </p:blipFill>
        <p:spPr bwMode="auto">
          <a:xfrm rot="5400000">
            <a:off x="24201257" y="6018097"/>
            <a:ext cx="3167547" cy="3032008"/>
          </a:xfrm>
          <a:prstGeom prst="rect">
            <a:avLst/>
          </a:prstGeom>
          <a:ln>
            <a:noFill/>
          </a:ln>
          <a:extLst>
            <a:ext uri="{53640926-AAD7-44D8-BBD7-CCE9431645EC}">
              <a14:shadowObscured xmlns:a14="http://schemas.microsoft.com/office/drawing/2010/main"/>
            </a:ext>
          </a:extLst>
        </p:spPr>
      </p:pic>
      <p:sp>
        <p:nvSpPr>
          <p:cNvPr id="2" name="Rectangle 1">
            <a:extLst>
              <a:ext uri="{FF2B5EF4-FFF2-40B4-BE49-F238E27FC236}">
                <a16:creationId xmlns:a16="http://schemas.microsoft.com/office/drawing/2014/main" id="{013246EF-EDF2-EFA6-79AA-2CFE2876E98C}"/>
              </a:ext>
            </a:extLst>
          </p:cNvPr>
          <p:cNvSpPr>
            <a:spLocks noChangeArrowheads="1"/>
          </p:cNvSpPr>
          <p:nvPr/>
        </p:nvSpPr>
        <p:spPr bwMode="auto">
          <a:xfrm>
            <a:off x="0" y="0"/>
            <a:ext cx="438912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Two dimensional MXene materials have been intensively explored in recent years after the first discovery of Ti</a:t>
            </a:r>
            <a:r>
              <a:rPr kumimoji="0" lang="en-US" altLang="en-US" sz="1200" b="0" i="0" u="sng" strike="noStrike" cap="none" normalizeH="0" baseline="-3000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3</a:t>
            </a: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C</a:t>
            </a:r>
            <a:r>
              <a:rPr kumimoji="0" lang="en-US" altLang="en-US" sz="1200" b="0" i="0" u="sng" strike="noStrike" cap="none" normalizeH="0" baseline="-3000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2</a:t>
            </a: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T</a:t>
            </a:r>
            <a:r>
              <a:rPr kumimoji="0" lang="en-US" altLang="en-US" sz="1200" b="0" i="0" u="sng" strike="noStrike" cap="none" normalizeH="0" baseline="-3000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X</a:t>
            </a: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 MXene at Drexel University in 2011</a:t>
            </a:r>
            <a:r>
              <a:rPr kumimoji="0" lang="en-US" altLang="en-US" sz="800" b="0" i="0" u="sng" strike="noStrike" cap="none" normalizeH="0" baseline="0">
                <a:ln>
                  <a:noFill/>
                </a:ln>
                <a:solidFill>
                  <a:srgbClr val="008080"/>
                </a:solidFill>
                <a:effectLst/>
                <a:ea typeface="Calibri" panose="020F0502020204030204" pitchFamily="34" charset="0"/>
                <a:cs typeface="Times New Roman" panose="02020603050405020304" pitchFamily="18" charset="0"/>
              </a:rPr>
              <a:t> </a:t>
            </a:r>
            <a:r>
              <a:rPr kumimoji="0" lang="en-US" altLang="en-US" sz="1100" b="0" i="0" u="none" strike="noStrike" cap="none" normalizeH="0" baseline="3000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r>
              <a:rPr kumimoji="0" lang="en-US" altLang="en-US" sz="800" b="0" i="0" u="sng" strike="noStrike" cap="none" normalizeH="0" baseline="0">
                <a:ln>
                  <a:noFill/>
                </a:ln>
                <a:solidFill>
                  <a:srgbClr val="008080"/>
                </a:solidFill>
                <a:effectLst/>
                <a:ea typeface="Calibri" panose="020F0502020204030204" pitchFamily="34" charset="0"/>
                <a:cs typeface="Times New Roman" panose="02020603050405020304" pitchFamily="18" charset="0"/>
              </a:rPr>
              <a:t> </a:t>
            </a: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 To the date, over 100 stoichiometric MXene compositions are reported </a:t>
            </a:r>
            <a:r>
              <a:rPr kumimoji="0" lang="en-US" altLang="en-US" sz="1100" b="0" i="0" u="none" strike="noStrike" cap="none" normalizeH="0" baseline="3000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a:t>
            </a: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 which drew a lot of attention among the researchers in material science and technology</a:t>
            </a:r>
            <a:r>
              <a:rPr kumimoji="0" lang="en-US" altLang="en-US" sz="1100" b="0" i="0" u="sng" strike="noStrike" cap="none" normalizeH="0" baseline="30000">
                <a:ln>
                  <a:noFill/>
                </a:ln>
                <a:solidFill>
                  <a:srgbClr val="008080"/>
                </a:solidFill>
                <a:effectLst/>
                <a:latin typeface="Calibri" panose="020F0502020204030204" pitchFamily="34" charset="0"/>
                <a:ea typeface="Times New Roman" panose="02020603050405020304" pitchFamily="18" charset="0"/>
                <a:cs typeface="Calibri" panose="020F0502020204030204" pitchFamily="34" charset="0"/>
              </a:rPr>
              <a:t>3</a:t>
            </a: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 High electronic conductivity </a:t>
            </a:r>
            <a:r>
              <a:rPr kumimoji="0" lang="en-US" altLang="en-US" sz="1100" b="0" i="0" u="none" strike="noStrike" cap="none" normalizeH="0" baseline="3000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4,5</a:t>
            </a: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 chemical stability </a:t>
            </a:r>
            <a:r>
              <a:rPr kumimoji="0" lang="en-US" altLang="en-US" sz="1100" b="0" i="0" u="none" strike="noStrike" cap="none" normalizeH="0" baseline="3000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6-8</a:t>
            </a: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 and hydrophilicity </a:t>
            </a:r>
            <a:r>
              <a:rPr kumimoji="0" lang="en-US" altLang="en-US" sz="1100" b="0" i="0" u="none" strike="noStrike" cap="none" normalizeH="0" baseline="3000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9,10</a:t>
            </a:r>
            <a:r>
              <a:rPr kumimoji="0" lang="en-US" altLang="en-US" sz="1200" b="0" i="0" u="sng" strike="noStrike" cap="none" normalizeH="0" baseline="0">
                <a:ln>
                  <a:noFill/>
                </a:ln>
                <a:solidFill>
                  <a:srgbClr val="008080"/>
                </a:solidFill>
                <a:effectLst/>
                <a:latin typeface="Times New Roman" panose="02020603050405020304" pitchFamily="18" charset="0"/>
                <a:ea typeface="Calibri" panose="020F0502020204030204" pitchFamily="34" charset="0"/>
                <a:cs typeface="Times New Roman" panose="02020603050405020304" pitchFamily="18" charset="0"/>
              </a:rPr>
              <a:t> of MXenes opened broad prospects for their applications in variety of industrial and technological areas including energy storage, optoelectronics, spintronics, catalysis, and sensing</a:t>
            </a:r>
            <a:r>
              <a:rPr kumimoji="0" lang="en-US" altLang="en-US" sz="2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 Box 122"/>
          <p:cNvSpPr txBox="1">
            <a:spLocks noChangeArrowheads="1"/>
          </p:cNvSpPr>
          <p:nvPr/>
        </p:nvSpPr>
        <p:spPr bwMode="auto">
          <a:xfrm>
            <a:off x="6535638" y="278804"/>
            <a:ext cx="27561947" cy="1708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37" tIns="342842" rIns="137137" bIns="342842"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a:r>
              <a:rPr lang="en-US" sz="6600" b="1" dirty="0">
                <a:solidFill>
                  <a:schemeClr val="bg1"/>
                </a:solidFill>
                <a:latin typeface="Times New Roman" panose="02020603050405020304" pitchFamily="18" charset="0"/>
                <a:cs typeface="Times New Roman" panose="02020603050405020304" pitchFamily="18" charset="0"/>
              </a:rPr>
              <a:t>Effect of  Laser Wavelength on Raman Features of Ti</a:t>
            </a:r>
            <a:r>
              <a:rPr lang="en-US" sz="6600" b="1" baseline="-25000" dirty="0">
                <a:solidFill>
                  <a:schemeClr val="bg1"/>
                </a:solidFill>
                <a:latin typeface="Times New Roman" panose="02020603050405020304" pitchFamily="18" charset="0"/>
                <a:cs typeface="Times New Roman" panose="02020603050405020304" pitchFamily="18" charset="0"/>
              </a:rPr>
              <a:t>3</a:t>
            </a:r>
            <a:r>
              <a:rPr lang="en-US" sz="6600" b="1" dirty="0">
                <a:solidFill>
                  <a:schemeClr val="bg1"/>
                </a:solidFill>
                <a:latin typeface="Times New Roman" panose="02020603050405020304" pitchFamily="18" charset="0"/>
                <a:cs typeface="Times New Roman" panose="02020603050405020304" pitchFamily="18" charset="0"/>
              </a:rPr>
              <a:t>C</a:t>
            </a:r>
            <a:r>
              <a:rPr lang="en-US" sz="6600" b="1" baseline="-25000" dirty="0">
                <a:solidFill>
                  <a:schemeClr val="bg1"/>
                </a:solidFill>
                <a:latin typeface="Times New Roman" panose="02020603050405020304" pitchFamily="18" charset="0"/>
                <a:cs typeface="Times New Roman" panose="02020603050405020304" pitchFamily="18" charset="0"/>
              </a:rPr>
              <a:t>2</a:t>
            </a:r>
            <a:r>
              <a:rPr lang="en-US" sz="6600" b="1" dirty="0">
                <a:solidFill>
                  <a:schemeClr val="bg1"/>
                </a:solidFill>
                <a:latin typeface="Times New Roman" panose="02020603050405020304" pitchFamily="18" charset="0"/>
                <a:cs typeface="Times New Roman" panose="02020603050405020304" pitchFamily="18" charset="0"/>
              </a:rPr>
              <a:t>T</a:t>
            </a:r>
            <a:r>
              <a:rPr lang="en-US" sz="6600" b="1" baseline="-25000" dirty="0">
                <a:solidFill>
                  <a:schemeClr val="bg1"/>
                </a:solidFill>
                <a:latin typeface="Times New Roman" panose="02020603050405020304" pitchFamily="18" charset="0"/>
                <a:cs typeface="Times New Roman" panose="02020603050405020304" pitchFamily="18" charset="0"/>
              </a:rPr>
              <a:t>x</a:t>
            </a:r>
            <a:r>
              <a:rPr lang="en-US" sz="6600" b="1" dirty="0">
                <a:solidFill>
                  <a:schemeClr val="bg1"/>
                </a:solidFill>
                <a:latin typeface="Times New Roman" panose="02020603050405020304" pitchFamily="18" charset="0"/>
                <a:cs typeface="Times New Roman" panose="02020603050405020304" pitchFamily="18" charset="0"/>
              </a:rPr>
              <a:t> </a:t>
            </a:r>
            <a:r>
              <a:rPr lang="en-US" sz="6600" b="1" dirty="0" err="1">
                <a:solidFill>
                  <a:schemeClr val="bg1"/>
                </a:solidFill>
                <a:latin typeface="Times New Roman" panose="02020603050405020304" pitchFamily="18" charset="0"/>
                <a:cs typeface="Times New Roman" panose="02020603050405020304" pitchFamily="18" charset="0"/>
              </a:rPr>
              <a:t>MXene</a:t>
            </a:r>
            <a:endParaRPr lang="en-US" baseline="-25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79E66B93-4B18-6558-4D91-2C4A16325252}"/>
              </a:ext>
            </a:extLst>
          </p:cNvPr>
          <p:cNvSpPr txBox="1"/>
          <p:nvPr/>
        </p:nvSpPr>
        <p:spPr>
          <a:xfrm>
            <a:off x="1463040" y="5635640"/>
            <a:ext cx="13000771" cy="8956298"/>
          </a:xfrm>
          <a:prstGeom prst="rect">
            <a:avLst/>
          </a:prstGeom>
          <a:noFill/>
        </p:spPr>
        <p:txBody>
          <a:bodyPr wrap="square">
            <a:spAutoFit/>
          </a:bodyPr>
          <a:lstStyle/>
          <a:p>
            <a:pPr algn="just"/>
            <a:r>
              <a:rPr lang="en-US" sz="4800" dirty="0">
                <a:latin typeface="Times New Roman" panose="02020603050405020304" pitchFamily="18" charset="0"/>
                <a:cs typeface="Times New Roman" panose="02020603050405020304" pitchFamily="18" charset="0"/>
              </a:rPr>
              <a:t>Two dimensional(2D) </a:t>
            </a:r>
            <a:r>
              <a:rPr lang="en-US" sz="4800" dirty="0" err="1">
                <a:latin typeface="Times New Roman" panose="02020603050405020304" pitchFamily="18" charset="0"/>
                <a:cs typeface="Times New Roman" panose="02020603050405020304" pitchFamily="18" charset="0"/>
              </a:rPr>
              <a:t>MXene</a:t>
            </a:r>
            <a:r>
              <a:rPr lang="en-US" sz="4800" dirty="0">
                <a:latin typeface="Times New Roman" panose="02020603050405020304" pitchFamily="18" charset="0"/>
                <a:cs typeface="Times New Roman" panose="02020603050405020304" pitchFamily="18" charset="0"/>
              </a:rPr>
              <a:t> materials have been intensively explored in recent years after the first discovery of Ti</a:t>
            </a:r>
            <a:r>
              <a:rPr lang="en-US" sz="4800" baseline="-25000" dirty="0">
                <a:latin typeface="Times New Roman" panose="02020603050405020304" pitchFamily="18" charset="0"/>
                <a:cs typeface="Times New Roman" panose="02020603050405020304" pitchFamily="18" charset="0"/>
              </a:rPr>
              <a:t>3</a:t>
            </a:r>
            <a:r>
              <a:rPr lang="en-US" sz="4800" dirty="0">
                <a:latin typeface="Times New Roman" panose="02020603050405020304" pitchFamily="18" charset="0"/>
                <a:cs typeface="Times New Roman" panose="02020603050405020304" pitchFamily="18" charset="0"/>
              </a:rPr>
              <a:t>C</a:t>
            </a:r>
            <a:r>
              <a:rPr lang="en-US" sz="4800" baseline="-25000" dirty="0">
                <a:latin typeface="Times New Roman" panose="02020603050405020304" pitchFamily="18" charset="0"/>
                <a:cs typeface="Times New Roman" panose="02020603050405020304" pitchFamily="18" charset="0"/>
              </a:rPr>
              <a:t>2</a:t>
            </a:r>
            <a:r>
              <a:rPr lang="en-US" sz="4800" dirty="0">
                <a:latin typeface="Times New Roman" panose="02020603050405020304" pitchFamily="18" charset="0"/>
                <a:cs typeface="Times New Roman" panose="02020603050405020304" pitchFamily="18" charset="0"/>
              </a:rPr>
              <a:t>T</a:t>
            </a:r>
            <a:r>
              <a:rPr lang="en-US" sz="4800" baseline="-25000" dirty="0">
                <a:latin typeface="Times New Roman" panose="02020603050405020304" pitchFamily="18" charset="0"/>
                <a:cs typeface="Times New Roman" panose="02020603050405020304" pitchFamily="18" charset="0"/>
              </a:rPr>
              <a:t>X</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MXene</a:t>
            </a:r>
            <a:r>
              <a:rPr lang="en-US" sz="4800" dirty="0">
                <a:latin typeface="Times New Roman" panose="02020603050405020304" pitchFamily="18" charset="0"/>
                <a:cs typeface="Times New Roman" panose="02020603050405020304" pitchFamily="18" charset="0"/>
              </a:rPr>
              <a:t> at Drexel University in 2011.</a:t>
            </a:r>
            <a:r>
              <a:rPr lang="en-US" sz="4800" baseline="30000" dirty="0">
                <a:latin typeface="Times New Roman" panose="02020603050405020304" pitchFamily="18" charset="0"/>
                <a:cs typeface="Times New Roman" panose="02020603050405020304" pitchFamily="18" charset="0"/>
              </a:rPr>
              <a:t>1</a:t>
            </a:r>
            <a:r>
              <a:rPr lang="en-US" sz="4800" dirty="0">
                <a:latin typeface="Times New Roman" panose="02020603050405020304" pitchFamily="18" charset="0"/>
                <a:cs typeface="Times New Roman" panose="02020603050405020304" pitchFamily="18" charset="0"/>
              </a:rPr>
              <a:t> To the date, over 100 stoichiometric </a:t>
            </a:r>
            <a:r>
              <a:rPr lang="en-US" sz="4800" dirty="0" err="1">
                <a:latin typeface="Times New Roman" panose="02020603050405020304" pitchFamily="18" charset="0"/>
                <a:cs typeface="Times New Roman" panose="02020603050405020304" pitchFamily="18" charset="0"/>
              </a:rPr>
              <a:t>MXene</a:t>
            </a:r>
            <a:r>
              <a:rPr lang="en-US" sz="4800" dirty="0">
                <a:latin typeface="Times New Roman" panose="02020603050405020304" pitchFamily="18" charset="0"/>
                <a:cs typeface="Times New Roman" panose="02020603050405020304" pitchFamily="18" charset="0"/>
              </a:rPr>
              <a:t> compositions are reported which drew a lot of attention among the researchers in materials science and technology.</a:t>
            </a:r>
            <a:r>
              <a:rPr lang="en-US" sz="4800" baseline="30000" dirty="0">
                <a:latin typeface="Times New Roman" panose="02020603050405020304" pitchFamily="18" charset="0"/>
                <a:cs typeface="Times New Roman" panose="02020603050405020304" pitchFamily="18" charset="0"/>
              </a:rPr>
              <a:t>2</a:t>
            </a:r>
            <a:r>
              <a:rPr lang="en-US" sz="4800" dirty="0">
                <a:latin typeface="Times New Roman" panose="02020603050405020304" pitchFamily="18" charset="0"/>
                <a:cs typeface="Times New Roman" panose="02020603050405020304" pitchFamily="18" charset="0"/>
              </a:rPr>
              <a:t> High electronic conductivity, chemical stability and hydrophilicity of </a:t>
            </a:r>
            <a:r>
              <a:rPr lang="en-US" sz="4800" dirty="0" err="1">
                <a:latin typeface="Times New Roman" panose="02020603050405020304" pitchFamily="18" charset="0"/>
                <a:cs typeface="Times New Roman" panose="02020603050405020304" pitchFamily="18" charset="0"/>
              </a:rPr>
              <a:t>MXenes</a:t>
            </a:r>
            <a:r>
              <a:rPr lang="en-US" sz="4800" dirty="0">
                <a:latin typeface="Times New Roman" panose="02020603050405020304" pitchFamily="18" charset="0"/>
                <a:cs typeface="Times New Roman" panose="02020603050405020304" pitchFamily="18" charset="0"/>
              </a:rPr>
              <a:t> opened broad prospects for their applications in variety of industrial and technological areas including energy storage, optoelectronics, spintronics, catalysis, and sensing.</a:t>
            </a:r>
            <a:r>
              <a:rPr lang="en-US" sz="4800" baseline="30000" dirty="0">
                <a:latin typeface="Times New Roman" panose="02020603050405020304" pitchFamily="18" charset="0"/>
                <a:cs typeface="Times New Roman" panose="02020603050405020304" pitchFamily="18" charset="0"/>
              </a:rPr>
              <a:t> 2</a:t>
            </a:r>
            <a:endParaRPr lang="en-US" sz="4800"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6F9DB64A-CC88-A6F3-A051-63F78535B260}"/>
              </a:ext>
            </a:extLst>
          </p:cNvPr>
          <p:cNvPicPr>
            <a:picLocks noChangeAspect="1"/>
          </p:cNvPicPr>
          <p:nvPr/>
        </p:nvPicPr>
        <p:blipFill>
          <a:blip r:embed="rId7"/>
          <a:stretch>
            <a:fillRect/>
          </a:stretch>
        </p:blipFill>
        <p:spPr>
          <a:xfrm>
            <a:off x="36485643" y="1784052"/>
            <a:ext cx="3471186" cy="2163857"/>
          </a:xfrm>
          <a:prstGeom prst="rect">
            <a:avLst/>
          </a:prstGeom>
        </p:spPr>
      </p:pic>
      <p:sp>
        <p:nvSpPr>
          <p:cNvPr id="23" name="Rectangle 22">
            <a:extLst>
              <a:ext uri="{FF2B5EF4-FFF2-40B4-BE49-F238E27FC236}">
                <a16:creationId xmlns:a16="http://schemas.microsoft.com/office/drawing/2014/main" id="{2F0DE684-1799-7296-6255-BA3F7AAC5EA5}"/>
              </a:ext>
            </a:extLst>
          </p:cNvPr>
          <p:cNvSpPr/>
          <p:nvPr/>
        </p:nvSpPr>
        <p:spPr>
          <a:xfrm>
            <a:off x="1296451" y="20237116"/>
            <a:ext cx="13167360" cy="732331"/>
          </a:xfrm>
          <a:prstGeom prst="rect">
            <a:avLst/>
          </a:prstGeom>
          <a:solidFill>
            <a:srgbClr val="F8DC6C"/>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1">
                    <a:lumMod val="50000"/>
                  </a:schemeClr>
                </a:solidFill>
              </a:rPr>
              <a:t>Abstract</a:t>
            </a:r>
          </a:p>
        </p:txBody>
      </p:sp>
      <p:sp>
        <p:nvSpPr>
          <p:cNvPr id="29" name="Text Box 192">
            <a:extLst>
              <a:ext uri="{FF2B5EF4-FFF2-40B4-BE49-F238E27FC236}">
                <a16:creationId xmlns:a16="http://schemas.microsoft.com/office/drawing/2014/main" id="{161DAB8D-709F-39D4-3F78-A32F72E9D138}"/>
              </a:ext>
            </a:extLst>
          </p:cNvPr>
          <p:cNvSpPr txBox="1">
            <a:spLocks noChangeArrowheads="1"/>
          </p:cNvSpPr>
          <p:nvPr/>
        </p:nvSpPr>
        <p:spPr bwMode="auto">
          <a:xfrm>
            <a:off x="1379745" y="21186357"/>
            <a:ext cx="13167360" cy="7269636"/>
          </a:xfrm>
          <a:prstGeom prst="rect">
            <a:avLst/>
          </a:prstGeom>
          <a:solidFill>
            <a:schemeClr val="bg1"/>
          </a:solidFill>
          <a:ln w="12700">
            <a:solidFill>
              <a:schemeClr val="accent1">
                <a:lumMod val="75000"/>
              </a:schemeClr>
            </a:solidFill>
          </a:ln>
          <a:effectLst/>
        </p:spPr>
        <p:txBody>
          <a:bodyPr wrap="square" lIns="137137" tIns="137137" rIns="137137" bIns="137137" anchor="t">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a:p>
            <a:pPr eaLnBrk="1" hangingPunct="1">
              <a:spcBef>
                <a:spcPct val="10000"/>
              </a:spcBef>
            </a:pPr>
            <a:endParaRPr lang="en-US" altLang="en-US" sz="3200" dirty="0">
              <a:latin typeface="+mn-lt"/>
            </a:endParaRPr>
          </a:p>
        </p:txBody>
      </p:sp>
      <p:sp>
        <p:nvSpPr>
          <p:cNvPr id="27" name="TextBox 26">
            <a:extLst>
              <a:ext uri="{FF2B5EF4-FFF2-40B4-BE49-F238E27FC236}">
                <a16:creationId xmlns:a16="http://schemas.microsoft.com/office/drawing/2014/main" id="{E30D3A40-AB18-5412-B2B7-6D65E4004B6A}"/>
              </a:ext>
            </a:extLst>
          </p:cNvPr>
          <p:cNvSpPr txBox="1"/>
          <p:nvPr/>
        </p:nvSpPr>
        <p:spPr>
          <a:xfrm>
            <a:off x="1645920" y="21720549"/>
            <a:ext cx="12702200" cy="6740307"/>
          </a:xfrm>
          <a:prstGeom prst="rect">
            <a:avLst/>
          </a:prstGeom>
          <a:noFill/>
        </p:spPr>
        <p:txBody>
          <a:bodyPr wrap="square">
            <a:spAutoFit/>
          </a:bodyPr>
          <a:lstStyle/>
          <a:p>
            <a:pPr algn="just"/>
            <a:r>
              <a:rPr lang="en-US" sz="4800" spc="-20" dirty="0">
                <a:solidFill>
                  <a:srgbClr val="000000"/>
                </a:solidFill>
                <a:latin typeface="Times New Roman" panose="02020603050405020304" pitchFamily="18" charset="0"/>
                <a:ea typeface="Calibri" panose="020F0502020204030204" pitchFamily="34" charset="0"/>
              </a:rPr>
              <a:t>We employed X-Ray Diffraction and  studied the effect of chemical etching </a:t>
            </a:r>
            <a:r>
              <a:rPr lang="en-US" sz="4800" dirty="0">
                <a:effectLst/>
                <a:latin typeface="Times New Roman" panose="02020603050405020304" pitchFamily="18" charset="0"/>
                <a:ea typeface="Calibri" panose="020F0502020204030204" pitchFamily="34" charset="0"/>
              </a:rPr>
              <a:t>Ti</a:t>
            </a:r>
            <a:r>
              <a:rPr lang="en-US" sz="4800" baseline="-25000" dirty="0">
                <a:effectLst/>
                <a:latin typeface="Times New Roman" panose="02020603050405020304" pitchFamily="18" charset="0"/>
                <a:ea typeface="Calibri" panose="020F0502020204030204" pitchFamily="34" charset="0"/>
              </a:rPr>
              <a:t>3</a:t>
            </a:r>
            <a:r>
              <a:rPr lang="en-US" sz="4800" dirty="0">
                <a:effectLst/>
                <a:latin typeface="Times New Roman" panose="02020603050405020304" pitchFamily="18" charset="0"/>
                <a:ea typeface="Calibri" panose="020F0502020204030204" pitchFamily="34" charset="0"/>
              </a:rPr>
              <a:t>AlC</a:t>
            </a:r>
            <a:r>
              <a:rPr lang="en-US" sz="4800" baseline="-25000" dirty="0">
                <a:latin typeface="Times New Roman" panose="02020603050405020304" pitchFamily="18" charset="0"/>
                <a:ea typeface="Calibri" panose="020F0502020204030204" pitchFamily="34" charset="0"/>
              </a:rPr>
              <a:t>2.</a:t>
            </a:r>
            <a:r>
              <a:rPr lang="en-US" sz="4800" spc="-20" dirty="0">
                <a:solidFill>
                  <a:srgbClr val="000000"/>
                </a:solidFill>
                <a:latin typeface="Times New Roman" panose="02020603050405020304" pitchFamily="18" charset="0"/>
                <a:ea typeface="Calibri" panose="020F0502020204030204" pitchFamily="34" charset="0"/>
              </a:rPr>
              <a:t>Using Raman Spectroscopy we investigated the effect of laser wavelength  on Raman features of </a:t>
            </a:r>
            <a:r>
              <a:rPr lang="en-US" sz="4800" dirty="0">
                <a:effectLst/>
                <a:latin typeface="Times New Roman" panose="02020603050405020304" pitchFamily="18" charset="0"/>
                <a:ea typeface="Calibri" panose="020F0502020204030204" pitchFamily="34" charset="0"/>
              </a:rPr>
              <a:t>Ti</a:t>
            </a:r>
            <a:r>
              <a:rPr lang="en-US" sz="4800" baseline="-25000" dirty="0">
                <a:effectLst/>
                <a:latin typeface="Times New Roman" panose="02020603050405020304" pitchFamily="18" charset="0"/>
                <a:ea typeface="Calibri" panose="020F0502020204030204" pitchFamily="34" charset="0"/>
              </a:rPr>
              <a:t>3</a:t>
            </a:r>
            <a:r>
              <a:rPr lang="en-US" sz="4800" dirty="0">
                <a:effectLst/>
                <a:latin typeface="Times New Roman" panose="02020603050405020304" pitchFamily="18" charset="0"/>
                <a:ea typeface="Calibri" panose="020F0502020204030204" pitchFamily="34" charset="0"/>
              </a:rPr>
              <a:t>C</a:t>
            </a:r>
            <a:r>
              <a:rPr lang="en-US" sz="4800" baseline="-25000" dirty="0">
                <a:effectLst/>
                <a:latin typeface="Times New Roman" panose="02020603050405020304" pitchFamily="18" charset="0"/>
                <a:ea typeface="Calibri" panose="020F0502020204030204" pitchFamily="34" charset="0"/>
              </a:rPr>
              <a:t>2</a:t>
            </a:r>
            <a:r>
              <a:rPr lang="en-US" sz="4800" dirty="0">
                <a:effectLst/>
                <a:latin typeface="Times New Roman" panose="02020603050405020304" pitchFamily="18" charset="0"/>
                <a:ea typeface="Calibri" panose="020F0502020204030204" pitchFamily="34" charset="0"/>
              </a:rPr>
              <a:t>T</a:t>
            </a:r>
            <a:r>
              <a:rPr lang="en-US" sz="4800" baseline="-25000" dirty="0">
                <a:effectLst/>
                <a:latin typeface="Times New Roman" panose="02020603050405020304" pitchFamily="18" charset="0"/>
                <a:ea typeface="Calibri" panose="020F0502020204030204" pitchFamily="34" charset="0"/>
              </a:rPr>
              <a:t>X</a:t>
            </a:r>
            <a:r>
              <a:rPr lang="en-US" sz="4800" spc="-20" dirty="0">
                <a:solidFill>
                  <a:srgbClr val="000000"/>
                </a:solidFill>
                <a:latin typeface="Times New Roman" panose="02020603050405020304" pitchFamily="18" charset="0"/>
                <a:ea typeface="Calibri" panose="020F0502020204030204" pitchFamily="34" charset="0"/>
              </a:rPr>
              <a:t>. </a:t>
            </a:r>
            <a:r>
              <a:rPr lang="en-US" sz="4800" dirty="0">
                <a:latin typeface="Times New Roman" panose="02020603050405020304" pitchFamily="18" charset="0"/>
                <a:ea typeface="Calibri" panose="020F0502020204030204" pitchFamily="34" charset="0"/>
                <a:cs typeface="Times New Roman" panose="02020603050405020304" pitchFamily="18" charset="0"/>
              </a:rPr>
              <a:t>We observed the low angle X-ray peak at 5.64 degrees when </a:t>
            </a:r>
            <a:r>
              <a:rPr lang="en-US" sz="4800" dirty="0">
                <a:effectLst/>
                <a:latin typeface="Times New Roman" panose="02020603050405020304" pitchFamily="18" charset="0"/>
                <a:ea typeface="Calibri" panose="020F0502020204030204" pitchFamily="34" charset="0"/>
              </a:rPr>
              <a:t>Ti</a:t>
            </a:r>
            <a:r>
              <a:rPr lang="en-US" sz="4800" baseline="-25000" dirty="0">
                <a:effectLst/>
                <a:latin typeface="Times New Roman" panose="02020603050405020304" pitchFamily="18" charset="0"/>
                <a:ea typeface="Calibri" panose="020F0502020204030204" pitchFamily="34" charset="0"/>
              </a:rPr>
              <a:t>3</a:t>
            </a:r>
            <a:r>
              <a:rPr lang="en-US" sz="4800" dirty="0">
                <a:effectLst/>
                <a:latin typeface="Times New Roman" panose="02020603050405020304" pitchFamily="18" charset="0"/>
                <a:ea typeface="Calibri" panose="020F0502020204030204" pitchFamily="34" charset="0"/>
              </a:rPr>
              <a:t>AlC</a:t>
            </a:r>
            <a:r>
              <a:rPr lang="en-US" sz="4800" baseline="-25000" dirty="0">
                <a:latin typeface="Times New Roman" panose="02020603050405020304" pitchFamily="18" charset="0"/>
                <a:ea typeface="Calibri" panose="020F0502020204030204" pitchFamily="34" charset="0"/>
              </a:rPr>
              <a:t>2 </a:t>
            </a:r>
            <a:r>
              <a:rPr lang="en-US" sz="4800" dirty="0">
                <a:latin typeface="Times New Roman" panose="02020603050405020304" pitchFamily="18" charset="0"/>
                <a:ea typeface="Calibri" panose="020F0502020204030204" pitchFamily="34" charset="0"/>
                <a:cs typeface="Times New Roman" panose="02020603050405020304" pitchFamily="18" charset="0"/>
              </a:rPr>
              <a:t> was etched with </a:t>
            </a:r>
            <a:r>
              <a:rPr lang="en-US" sz="4800" dirty="0">
                <a:latin typeface="Times New Roman" panose="02020603050405020304" pitchFamily="18" charset="0"/>
                <a:cs typeface="Times New Roman" panose="02020603050405020304" pitchFamily="18" charset="0"/>
              </a:rPr>
              <a:t>hydrofluoric (HF) acid and Raman signal is decreased at high intensity with 785 nm laser but not with 532 nm laser</a:t>
            </a:r>
            <a:r>
              <a:rPr lang="en-US" sz="4800" dirty="0">
                <a:latin typeface="Times New Roman" panose="02020603050405020304" pitchFamily="18" charset="0"/>
                <a:ea typeface="Calibri" panose="020F0502020204030204" pitchFamily="34" charset="0"/>
                <a:cs typeface="Times New Roman" panose="02020603050405020304" pitchFamily="18" charset="0"/>
              </a:rPr>
              <a:t>. </a:t>
            </a:r>
            <a:endParaRPr lang="en-US" sz="4800" dirty="0"/>
          </a:p>
        </p:txBody>
      </p:sp>
      <p:pic>
        <p:nvPicPr>
          <p:cNvPr id="30" name="Picture 29" descr="Chart, line chart&#10;&#10;Description automatically generated">
            <a:extLst>
              <a:ext uri="{FF2B5EF4-FFF2-40B4-BE49-F238E27FC236}">
                <a16:creationId xmlns:a16="http://schemas.microsoft.com/office/drawing/2014/main" id="{33A096AF-3C09-8592-CD79-407DF8302658}"/>
              </a:ext>
            </a:extLst>
          </p:cNvPr>
          <p:cNvPicPr>
            <a:picLocks noChangeAspect="1"/>
          </p:cNvPicPr>
          <p:nvPr/>
        </p:nvPicPr>
        <p:blipFill>
          <a:blip r:embed="rId8"/>
          <a:stretch>
            <a:fillRect/>
          </a:stretch>
        </p:blipFill>
        <p:spPr>
          <a:xfrm>
            <a:off x="28579698" y="13953884"/>
            <a:ext cx="12672422" cy="5280176"/>
          </a:xfrm>
          <a:prstGeom prst="rect">
            <a:avLst/>
          </a:prstGeom>
        </p:spPr>
      </p:pic>
      <p:pic>
        <p:nvPicPr>
          <p:cNvPr id="39" name="Picture 38">
            <a:extLst>
              <a:ext uri="{FF2B5EF4-FFF2-40B4-BE49-F238E27FC236}">
                <a16:creationId xmlns:a16="http://schemas.microsoft.com/office/drawing/2014/main" id="{40CC6A4A-307C-D78C-F108-DE6AA361DECA}"/>
              </a:ext>
            </a:extLst>
          </p:cNvPr>
          <p:cNvPicPr>
            <a:picLocks noChangeAspect="1"/>
          </p:cNvPicPr>
          <p:nvPr/>
        </p:nvPicPr>
        <p:blipFill>
          <a:blip r:embed="rId9"/>
          <a:stretch>
            <a:fillRect/>
          </a:stretch>
        </p:blipFill>
        <p:spPr>
          <a:xfrm>
            <a:off x="15780665" y="14256619"/>
            <a:ext cx="11733240" cy="9586261"/>
          </a:xfrm>
          <a:prstGeom prst="rect">
            <a:avLst/>
          </a:prstGeom>
        </p:spPr>
      </p:pic>
      <p:sp>
        <p:nvSpPr>
          <p:cNvPr id="42" name="TextBox 41">
            <a:extLst>
              <a:ext uri="{FF2B5EF4-FFF2-40B4-BE49-F238E27FC236}">
                <a16:creationId xmlns:a16="http://schemas.microsoft.com/office/drawing/2014/main" id="{0A61309A-E497-9338-C3AA-0E19CC8CE7D8}"/>
              </a:ext>
            </a:extLst>
          </p:cNvPr>
          <p:cNvSpPr txBox="1"/>
          <p:nvPr/>
        </p:nvSpPr>
        <p:spPr>
          <a:xfrm>
            <a:off x="15780665" y="24264222"/>
            <a:ext cx="10833735" cy="553998"/>
          </a:xfrm>
          <a:prstGeom prst="rect">
            <a:avLst/>
          </a:prstGeom>
          <a:noFill/>
        </p:spPr>
        <p:txBody>
          <a:bodyPr wrap="square">
            <a:spAutoFit/>
          </a:bodyPr>
          <a:lstStyle/>
          <a:p>
            <a:r>
              <a:rPr lang="en-US" sz="3000" b="1" dirty="0">
                <a:latin typeface="Times New Roman" charset="0"/>
                <a:ea typeface="Times New Roman" charset="0"/>
                <a:cs typeface="Times New Roman" charset="0"/>
              </a:rPr>
              <a:t>Figure 1.  X-ray Diffraction patterns of </a:t>
            </a:r>
            <a:r>
              <a:rPr lang="en-US" sz="3000" b="1" dirty="0">
                <a:effectLst/>
                <a:latin typeface="Times New Roman" panose="02020603050405020304" pitchFamily="18" charset="0"/>
                <a:ea typeface="Calibri" panose="020F0502020204030204" pitchFamily="34" charset="0"/>
              </a:rPr>
              <a:t>Ti</a:t>
            </a:r>
            <a:r>
              <a:rPr lang="en-US" sz="3000" b="1" baseline="-25000" dirty="0">
                <a:effectLst/>
                <a:latin typeface="Times New Roman" panose="02020603050405020304" pitchFamily="18" charset="0"/>
                <a:ea typeface="Calibri" panose="020F0502020204030204" pitchFamily="34" charset="0"/>
              </a:rPr>
              <a:t>3</a:t>
            </a:r>
            <a:r>
              <a:rPr lang="en-US" sz="3000" b="1" dirty="0">
                <a:effectLst/>
                <a:latin typeface="Times New Roman" panose="02020603050405020304" pitchFamily="18" charset="0"/>
                <a:ea typeface="Calibri" panose="020F0502020204030204" pitchFamily="34" charset="0"/>
              </a:rPr>
              <a:t>AlC</a:t>
            </a:r>
            <a:r>
              <a:rPr lang="en-US" sz="3000" b="1" baseline="-25000" dirty="0">
                <a:latin typeface="Times New Roman" panose="02020603050405020304" pitchFamily="18" charset="0"/>
                <a:ea typeface="Calibri" panose="020F0502020204030204" pitchFamily="34" charset="0"/>
              </a:rPr>
              <a:t>2 </a:t>
            </a:r>
            <a:r>
              <a:rPr lang="en-US" sz="3000" b="1" dirty="0">
                <a:latin typeface="Times New Roman" charset="0"/>
                <a:ea typeface="Times New Roman" charset="0"/>
                <a:cs typeface="Times New Roman" charset="0"/>
              </a:rPr>
              <a:t>and </a:t>
            </a:r>
            <a:r>
              <a:rPr lang="en-US" sz="3000" b="1" dirty="0">
                <a:effectLst/>
                <a:latin typeface="Times New Roman" panose="02020603050405020304" pitchFamily="18" charset="0"/>
                <a:ea typeface="Calibri" panose="020F0502020204030204" pitchFamily="34" charset="0"/>
              </a:rPr>
              <a:t>Ti</a:t>
            </a:r>
            <a:r>
              <a:rPr lang="en-US" sz="3000" b="1" baseline="-25000" dirty="0">
                <a:effectLst/>
                <a:latin typeface="Times New Roman" panose="02020603050405020304" pitchFamily="18" charset="0"/>
                <a:ea typeface="Calibri" panose="020F0502020204030204" pitchFamily="34" charset="0"/>
              </a:rPr>
              <a:t>3</a:t>
            </a:r>
            <a:r>
              <a:rPr lang="en-US" sz="3000" b="1" dirty="0">
                <a:effectLst/>
                <a:latin typeface="Times New Roman" panose="02020603050405020304" pitchFamily="18" charset="0"/>
                <a:ea typeface="Calibri" panose="020F0502020204030204" pitchFamily="34" charset="0"/>
              </a:rPr>
              <a:t>C</a:t>
            </a:r>
            <a:r>
              <a:rPr lang="en-US" sz="3000" b="1" baseline="-25000" dirty="0">
                <a:effectLst/>
                <a:latin typeface="Times New Roman" panose="02020603050405020304" pitchFamily="18" charset="0"/>
                <a:ea typeface="Calibri" panose="020F0502020204030204" pitchFamily="34" charset="0"/>
              </a:rPr>
              <a:t>2</a:t>
            </a:r>
            <a:r>
              <a:rPr lang="en-US" sz="3000" b="1" dirty="0">
                <a:effectLst/>
                <a:latin typeface="Times New Roman" panose="02020603050405020304" pitchFamily="18" charset="0"/>
                <a:ea typeface="Calibri" panose="020F0502020204030204" pitchFamily="34" charset="0"/>
              </a:rPr>
              <a:t>T</a:t>
            </a:r>
            <a:r>
              <a:rPr lang="en-US" sz="3000" b="1" baseline="-25000" dirty="0">
                <a:effectLst/>
                <a:latin typeface="Times New Roman" panose="02020603050405020304" pitchFamily="18" charset="0"/>
                <a:ea typeface="Calibri" panose="020F0502020204030204" pitchFamily="34" charset="0"/>
              </a:rPr>
              <a:t>X</a:t>
            </a:r>
            <a:endParaRPr lang="en-US" sz="3000" b="1" dirty="0">
              <a:latin typeface="Times New Roman" charset="0"/>
              <a:ea typeface="Times New Roman" charset="0"/>
              <a:cs typeface="Times New Roman" charset="0"/>
            </a:endParaRPr>
          </a:p>
        </p:txBody>
      </p:sp>
      <p:sp>
        <p:nvSpPr>
          <p:cNvPr id="43" name="TextBox 42">
            <a:extLst>
              <a:ext uri="{FF2B5EF4-FFF2-40B4-BE49-F238E27FC236}">
                <a16:creationId xmlns:a16="http://schemas.microsoft.com/office/drawing/2014/main" id="{35ACDCC8-A8C9-0612-A5A6-080EAFCF7827}"/>
              </a:ext>
            </a:extLst>
          </p:cNvPr>
          <p:cNvSpPr txBox="1"/>
          <p:nvPr/>
        </p:nvSpPr>
        <p:spPr>
          <a:xfrm>
            <a:off x="30381955" y="19589731"/>
            <a:ext cx="10833735" cy="553998"/>
          </a:xfrm>
          <a:prstGeom prst="rect">
            <a:avLst/>
          </a:prstGeom>
          <a:noFill/>
        </p:spPr>
        <p:txBody>
          <a:bodyPr wrap="square">
            <a:spAutoFit/>
          </a:bodyPr>
          <a:lstStyle/>
          <a:p>
            <a:r>
              <a:rPr lang="en-US" sz="3000" b="1" dirty="0">
                <a:latin typeface="Times New Roman" charset="0"/>
                <a:ea typeface="Times New Roman" charset="0"/>
                <a:cs typeface="Times New Roman" charset="0"/>
              </a:rPr>
              <a:t>Figure 2.  Raman Spectrum of </a:t>
            </a:r>
            <a:r>
              <a:rPr lang="en-US" sz="3000" b="1" dirty="0">
                <a:effectLst/>
                <a:latin typeface="Times New Roman" panose="02020603050405020304" pitchFamily="18" charset="0"/>
                <a:ea typeface="Calibri" panose="020F0502020204030204" pitchFamily="34" charset="0"/>
              </a:rPr>
              <a:t>Ti</a:t>
            </a:r>
            <a:r>
              <a:rPr lang="en-US" sz="3000" b="1" baseline="-25000" dirty="0">
                <a:effectLst/>
                <a:latin typeface="Times New Roman" panose="02020603050405020304" pitchFamily="18" charset="0"/>
                <a:ea typeface="Calibri" panose="020F0502020204030204" pitchFamily="34" charset="0"/>
              </a:rPr>
              <a:t>3</a:t>
            </a:r>
            <a:r>
              <a:rPr lang="en-US" sz="3000" b="1" dirty="0">
                <a:effectLst/>
                <a:latin typeface="Times New Roman" panose="02020603050405020304" pitchFamily="18" charset="0"/>
                <a:ea typeface="Calibri" panose="020F0502020204030204" pitchFamily="34" charset="0"/>
              </a:rPr>
              <a:t>C</a:t>
            </a:r>
            <a:r>
              <a:rPr lang="en-US" sz="3000" b="1" baseline="-25000" dirty="0">
                <a:effectLst/>
                <a:latin typeface="Times New Roman" panose="02020603050405020304" pitchFamily="18" charset="0"/>
                <a:ea typeface="Calibri" panose="020F0502020204030204" pitchFamily="34" charset="0"/>
              </a:rPr>
              <a:t>2</a:t>
            </a:r>
            <a:r>
              <a:rPr lang="en-US" sz="3000" b="1" dirty="0">
                <a:effectLst/>
                <a:latin typeface="Times New Roman" panose="02020603050405020304" pitchFamily="18" charset="0"/>
                <a:ea typeface="Calibri" panose="020F0502020204030204" pitchFamily="34" charset="0"/>
              </a:rPr>
              <a:t>T</a:t>
            </a:r>
            <a:r>
              <a:rPr lang="en-US" sz="3000" b="1" baseline="-25000" dirty="0">
                <a:effectLst/>
                <a:latin typeface="Times New Roman" panose="02020603050405020304" pitchFamily="18" charset="0"/>
                <a:ea typeface="Calibri" panose="020F0502020204030204" pitchFamily="34" charset="0"/>
              </a:rPr>
              <a:t>X  </a:t>
            </a:r>
            <a:r>
              <a:rPr lang="en-US" sz="3000" b="1" dirty="0">
                <a:effectLst/>
                <a:latin typeface="Times New Roman" panose="02020603050405020304" pitchFamily="18" charset="0"/>
                <a:ea typeface="Calibri" panose="020F0502020204030204" pitchFamily="34" charset="0"/>
              </a:rPr>
              <a:t> with 785 nm laser</a:t>
            </a:r>
            <a:endParaRPr lang="en-US" sz="3000" b="1" dirty="0">
              <a:latin typeface="Times New Roman" charset="0"/>
              <a:ea typeface="Times New Roman" charset="0"/>
              <a:cs typeface="Times New Roman" charset="0"/>
            </a:endParaRPr>
          </a:p>
        </p:txBody>
      </p:sp>
      <p:sp>
        <p:nvSpPr>
          <p:cNvPr id="44" name="TextBox 43">
            <a:extLst>
              <a:ext uri="{FF2B5EF4-FFF2-40B4-BE49-F238E27FC236}">
                <a16:creationId xmlns:a16="http://schemas.microsoft.com/office/drawing/2014/main" id="{9DD2DFE6-D463-B070-BA94-F3675808CFDB}"/>
              </a:ext>
            </a:extLst>
          </p:cNvPr>
          <p:cNvSpPr txBox="1"/>
          <p:nvPr/>
        </p:nvSpPr>
        <p:spPr>
          <a:xfrm>
            <a:off x="30488865" y="25212740"/>
            <a:ext cx="10833735" cy="553998"/>
          </a:xfrm>
          <a:prstGeom prst="rect">
            <a:avLst/>
          </a:prstGeom>
          <a:noFill/>
        </p:spPr>
        <p:txBody>
          <a:bodyPr wrap="square">
            <a:spAutoFit/>
          </a:bodyPr>
          <a:lstStyle/>
          <a:p>
            <a:r>
              <a:rPr lang="en-US" sz="3000" b="1" dirty="0">
                <a:latin typeface="Times New Roman" charset="0"/>
                <a:ea typeface="Times New Roman" charset="0"/>
                <a:cs typeface="Times New Roman" charset="0"/>
              </a:rPr>
              <a:t>Figure 3.  Raman Spectrum of </a:t>
            </a:r>
            <a:r>
              <a:rPr lang="en-US" sz="3000" b="1" dirty="0">
                <a:effectLst/>
                <a:latin typeface="Times New Roman" panose="02020603050405020304" pitchFamily="18" charset="0"/>
                <a:ea typeface="Calibri" panose="020F0502020204030204" pitchFamily="34" charset="0"/>
              </a:rPr>
              <a:t>Ti</a:t>
            </a:r>
            <a:r>
              <a:rPr lang="en-US" sz="3000" b="1" baseline="-25000" dirty="0">
                <a:effectLst/>
                <a:latin typeface="Times New Roman" panose="02020603050405020304" pitchFamily="18" charset="0"/>
                <a:ea typeface="Calibri" panose="020F0502020204030204" pitchFamily="34" charset="0"/>
              </a:rPr>
              <a:t>3</a:t>
            </a:r>
            <a:r>
              <a:rPr lang="en-US" sz="3000" b="1" dirty="0">
                <a:effectLst/>
                <a:latin typeface="Times New Roman" panose="02020603050405020304" pitchFamily="18" charset="0"/>
                <a:ea typeface="Calibri" panose="020F0502020204030204" pitchFamily="34" charset="0"/>
              </a:rPr>
              <a:t>C</a:t>
            </a:r>
            <a:r>
              <a:rPr lang="en-US" sz="3000" b="1" baseline="-25000" dirty="0">
                <a:effectLst/>
                <a:latin typeface="Times New Roman" panose="02020603050405020304" pitchFamily="18" charset="0"/>
                <a:ea typeface="Calibri" panose="020F0502020204030204" pitchFamily="34" charset="0"/>
              </a:rPr>
              <a:t>2</a:t>
            </a:r>
            <a:r>
              <a:rPr lang="en-US" sz="3000" b="1" dirty="0">
                <a:effectLst/>
                <a:latin typeface="Times New Roman" panose="02020603050405020304" pitchFamily="18" charset="0"/>
                <a:ea typeface="Calibri" panose="020F0502020204030204" pitchFamily="34" charset="0"/>
              </a:rPr>
              <a:t>T</a:t>
            </a:r>
            <a:r>
              <a:rPr lang="en-US" sz="3000" b="1" baseline="-25000" dirty="0">
                <a:effectLst/>
                <a:latin typeface="Times New Roman" panose="02020603050405020304" pitchFamily="18" charset="0"/>
                <a:ea typeface="Calibri" panose="020F0502020204030204" pitchFamily="34" charset="0"/>
              </a:rPr>
              <a:t>X  </a:t>
            </a:r>
            <a:r>
              <a:rPr lang="en-US" sz="3000" b="1" dirty="0">
                <a:effectLst/>
                <a:latin typeface="Times New Roman" panose="02020603050405020304" pitchFamily="18" charset="0"/>
                <a:ea typeface="Calibri" panose="020F0502020204030204" pitchFamily="34" charset="0"/>
              </a:rPr>
              <a:t> with 532 nm laser</a:t>
            </a:r>
            <a:endParaRPr lang="en-US" sz="3000" b="1" dirty="0">
              <a:latin typeface="Times New Roman" charset="0"/>
              <a:ea typeface="Times New Roman" charset="0"/>
              <a:cs typeface="Times New Roman" charset="0"/>
            </a:endParaRPr>
          </a:p>
        </p:txBody>
      </p:sp>
      <p:grpSp>
        <p:nvGrpSpPr>
          <p:cNvPr id="49" name="Group 48">
            <a:extLst>
              <a:ext uri="{FF2B5EF4-FFF2-40B4-BE49-F238E27FC236}">
                <a16:creationId xmlns:a16="http://schemas.microsoft.com/office/drawing/2014/main" id="{A1064268-1027-3801-2F42-93911F3373E8}"/>
              </a:ext>
            </a:extLst>
          </p:cNvPr>
          <p:cNvGrpSpPr/>
          <p:nvPr/>
        </p:nvGrpSpPr>
        <p:grpSpPr>
          <a:xfrm>
            <a:off x="16333471" y="5771360"/>
            <a:ext cx="5612129" cy="4148989"/>
            <a:chOff x="16035156" y="5654589"/>
            <a:chExt cx="5612129" cy="4148989"/>
          </a:xfrm>
        </p:grpSpPr>
        <p:pic>
          <p:nvPicPr>
            <p:cNvPr id="47" name="Picture 46">
              <a:extLst>
                <a:ext uri="{FF2B5EF4-FFF2-40B4-BE49-F238E27FC236}">
                  <a16:creationId xmlns:a16="http://schemas.microsoft.com/office/drawing/2014/main" id="{6D3EA749-FE1A-0FF4-C24B-96BB4DC784D4}"/>
                </a:ext>
              </a:extLst>
            </p:cNvPr>
            <p:cNvPicPr>
              <a:picLocks noChangeAspect="1"/>
            </p:cNvPicPr>
            <p:nvPr/>
          </p:nvPicPr>
          <p:blipFill>
            <a:blip r:embed="rId10"/>
            <a:stretch>
              <a:fillRect/>
            </a:stretch>
          </p:blipFill>
          <p:spPr>
            <a:xfrm>
              <a:off x="16675235" y="5654589"/>
              <a:ext cx="4972050" cy="3848100"/>
            </a:xfrm>
            <a:prstGeom prst="rect">
              <a:avLst/>
            </a:prstGeom>
          </p:spPr>
        </p:pic>
        <p:sp>
          <p:nvSpPr>
            <p:cNvPr id="48" name="Oval 47">
              <a:extLst>
                <a:ext uri="{FF2B5EF4-FFF2-40B4-BE49-F238E27FC236}">
                  <a16:creationId xmlns:a16="http://schemas.microsoft.com/office/drawing/2014/main" id="{5958DF8F-D36A-7AEE-157C-AD61006DB9CD}"/>
                </a:ext>
              </a:extLst>
            </p:cNvPr>
            <p:cNvSpPr/>
            <p:nvPr/>
          </p:nvSpPr>
          <p:spPr>
            <a:xfrm>
              <a:off x="16035156" y="9117874"/>
              <a:ext cx="1260068" cy="68570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TextBox 50">
            <a:extLst>
              <a:ext uri="{FF2B5EF4-FFF2-40B4-BE49-F238E27FC236}">
                <a16:creationId xmlns:a16="http://schemas.microsoft.com/office/drawing/2014/main" id="{FF8E5EC7-0451-A18C-90CF-C5CD30AE90C6}"/>
              </a:ext>
            </a:extLst>
          </p:cNvPr>
          <p:cNvSpPr txBox="1"/>
          <p:nvPr/>
        </p:nvSpPr>
        <p:spPr>
          <a:xfrm>
            <a:off x="15522878" y="9816259"/>
            <a:ext cx="13555736" cy="2800767"/>
          </a:xfrm>
          <a:prstGeom prst="rect">
            <a:avLst/>
          </a:prstGeom>
          <a:noFill/>
        </p:spPr>
        <p:txBody>
          <a:bodyPr wrap="square">
            <a:spAutoFit/>
          </a:bodyPr>
          <a:lstStyle/>
          <a:p>
            <a:pPr algn="just"/>
            <a:r>
              <a:rPr lang="en-US" sz="4400" dirty="0">
                <a:latin typeface="Times New Roman" panose="02020603050405020304" pitchFamily="18" charset="0"/>
                <a:cs typeface="Times New Roman" panose="02020603050405020304" pitchFamily="18" charset="0"/>
              </a:rPr>
              <a:t> </a:t>
            </a:r>
            <a:r>
              <a:rPr lang="en-US" sz="4400" dirty="0">
                <a:effectLst/>
                <a:latin typeface="Times New Roman" panose="02020603050405020304" pitchFamily="18" charset="0"/>
                <a:ea typeface="Calibri" panose="020F0502020204030204" pitchFamily="34" charset="0"/>
              </a:rPr>
              <a:t>Ti</a:t>
            </a:r>
            <a:r>
              <a:rPr lang="en-US" sz="4400" baseline="-25000" dirty="0">
                <a:effectLst/>
                <a:latin typeface="Times New Roman" panose="02020603050405020304" pitchFamily="18" charset="0"/>
                <a:ea typeface="Calibri" panose="020F0502020204030204" pitchFamily="34" charset="0"/>
              </a:rPr>
              <a:t>3</a:t>
            </a:r>
            <a:r>
              <a:rPr lang="en-US" sz="4400" dirty="0">
                <a:effectLst/>
                <a:latin typeface="Times New Roman" panose="02020603050405020304" pitchFamily="18" charset="0"/>
                <a:ea typeface="Calibri" panose="020F0502020204030204" pitchFamily="34" charset="0"/>
              </a:rPr>
              <a:t>AlC</a:t>
            </a:r>
            <a:r>
              <a:rPr lang="en-US" sz="4400" baseline="-25000" dirty="0">
                <a:latin typeface="Times New Roman" panose="02020603050405020304" pitchFamily="18" charset="0"/>
                <a:ea typeface="Calibri" panose="020F0502020204030204" pitchFamily="34" charset="0"/>
              </a:rPr>
              <a:t>2 </a:t>
            </a:r>
            <a:r>
              <a:rPr lang="en-US" sz="4400" dirty="0">
                <a:latin typeface="Times New Roman" panose="02020603050405020304" pitchFamily="18" charset="0"/>
                <a:cs typeface="Times New Roman" panose="02020603050405020304" pitchFamily="18" charset="0"/>
              </a:rPr>
              <a:t>MAX Phase was slowly added to a polyethylene bottle containing HF Acid and left to stir at for several hours. Then it was washed with deionized water and dried. Cartoon Figure on left was adapted from reference 2. </a:t>
            </a:r>
          </a:p>
        </p:txBody>
      </p:sp>
      <p:sp>
        <p:nvSpPr>
          <p:cNvPr id="3" name="TextBox 2">
            <a:extLst>
              <a:ext uri="{FF2B5EF4-FFF2-40B4-BE49-F238E27FC236}">
                <a16:creationId xmlns:a16="http://schemas.microsoft.com/office/drawing/2014/main" id="{517BEED0-2A1F-A8C9-4933-1814C0AEDCA0}"/>
              </a:ext>
            </a:extLst>
          </p:cNvPr>
          <p:cNvSpPr txBox="1"/>
          <p:nvPr/>
        </p:nvSpPr>
        <p:spPr>
          <a:xfrm>
            <a:off x="29078615" y="29060836"/>
            <a:ext cx="21921646" cy="3570208"/>
          </a:xfrm>
          <a:prstGeom prst="rect">
            <a:avLst/>
          </a:prstGeom>
          <a:noFill/>
        </p:spPr>
        <p:txBody>
          <a:bodyPr wrap="square" rtlCol="0">
            <a:spAutoFit/>
          </a:bodyPr>
          <a:lstStyle/>
          <a:p>
            <a:r>
              <a:rPr lang="en-US" sz="6800" b="1" dirty="0">
                <a:latin typeface="Times New Roman" panose="02020603050405020304" pitchFamily="18" charset="0"/>
                <a:cs typeface="Times New Roman" panose="02020603050405020304" pitchFamily="18" charset="0"/>
              </a:rPr>
              <a:t>References:</a:t>
            </a:r>
          </a:p>
          <a:p>
            <a:r>
              <a:rPr lang="en-US" sz="4800" dirty="0">
                <a:latin typeface="Times New Roman" panose="02020603050405020304" pitchFamily="18" charset="0"/>
                <a:cs typeface="Times New Roman" panose="02020603050405020304" pitchFamily="18" charset="0"/>
              </a:rPr>
              <a:t>1.  Naguib et al. </a:t>
            </a:r>
            <a:r>
              <a:rPr lang="en-US" sz="4800" i="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Adv Mater </a:t>
            </a:r>
            <a:r>
              <a:rPr lang="en-US" sz="48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2011</a:t>
            </a:r>
            <a:r>
              <a:rPr lang="en-US" sz="4800" i="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23</a:t>
            </a:r>
            <a:r>
              <a:rPr lang="en-US" sz="48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4248-4253.</a:t>
            </a:r>
          </a:p>
          <a:p>
            <a:r>
              <a:rPr lang="en-US" sz="4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2. Fu et al. </a:t>
            </a:r>
            <a:r>
              <a:rPr lang="de-DE" sz="4800" i="1" dirty="0">
                <a:latin typeface="Times New Roman" panose="02020603050405020304" pitchFamily="18" charset="0"/>
                <a:cs typeface="Times New Roman" panose="02020603050405020304" pitchFamily="18" charset="0"/>
              </a:rPr>
              <a:t>Chem. Rev</a:t>
            </a:r>
            <a:r>
              <a:rPr lang="de-DE" sz="4800" dirty="0">
                <a:latin typeface="Times New Roman" panose="02020603050405020304" pitchFamily="18" charset="0"/>
                <a:cs typeface="Times New Roman" panose="02020603050405020304" pitchFamily="18" charset="0"/>
              </a:rPr>
              <a:t>. </a:t>
            </a:r>
            <a:r>
              <a:rPr lang="de-DE" sz="4800" b="1" dirty="0">
                <a:latin typeface="Times New Roman" panose="02020603050405020304" pitchFamily="18" charset="0"/>
                <a:cs typeface="Times New Roman" panose="02020603050405020304" pitchFamily="18" charset="0"/>
              </a:rPr>
              <a:t>2019</a:t>
            </a:r>
            <a:r>
              <a:rPr lang="de-DE" sz="4800" dirty="0">
                <a:latin typeface="Times New Roman" panose="02020603050405020304" pitchFamily="18" charset="0"/>
                <a:cs typeface="Times New Roman" panose="02020603050405020304" pitchFamily="18" charset="0"/>
              </a:rPr>
              <a:t>, 119, 11980−12031</a:t>
            </a:r>
            <a:endParaRPr lang="en-US" sz="4800" dirty="0">
              <a:latin typeface="Times New Roman" panose="02020603050405020304" pitchFamily="18" charset="0"/>
              <a:cs typeface="Times New Roman" panose="02020603050405020304" pitchFamily="18" charset="0"/>
            </a:endParaRPr>
          </a:p>
          <a:p>
            <a:endParaRPr lang="en-US" sz="44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en-US" dirty="0"/>
          </a:p>
        </p:txBody>
      </p:sp>
      <p:pic>
        <p:nvPicPr>
          <p:cNvPr id="17" name="Picture 16" descr="Chart, histogram&#10;&#10;Description automatically generated">
            <a:extLst>
              <a:ext uri="{FF2B5EF4-FFF2-40B4-BE49-F238E27FC236}">
                <a16:creationId xmlns:a16="http://schemas.microsoft.com/office/drawing/2014/main" id="{221A106F-55FA-70ED-D6DD-9EC06C2978C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9546543" y="14065796"/>
            <a:ext cx="10833735" cy="5397118"/>
          </a:xfrm>
          <a:prstGeom prst="rect">
            <a:avLst/>
          </a:prstGeom>
        </p:spPr>
      </p:pic>
      <p:pic>
        <p:nvPicPr>
          <p:cNvPr id="8" name="Picture 7" descr="Chart&#10;&#10;Description automatically generated with medium confidence">
            <a:extLst>
              <a:ext uri="{FF2B5EF4-FFF2-40B4-BE49-F238E27FC236}">
                <a16:creationId xmlns:a16="http://schemas.microsoft.com/office/drawing/2014/main" id="{BA36A731-303C-4FA7-7037-4F59505D3F11}"/>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b="4286"/>
          <a:stretch/>
        </p:blipFill>
        <p:spPr>
          <a:xfrm>
            <a:off x="29661027" y="20101509"/>
            <a:ext cx="10719251" cy="5111231"/>
          </a:xfrm>
          <a:prstGeom prst="rect">
            <a:avLst/>
          </a:prstGeom>
        </p:spPr>
      </p:pic>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59e8a8d7-9cb5-41a1-a96d-cf0da3c5c100">
      <UserInfo>
        <DisplayName>START Students Members</DisplayName>
        <AccountId>7</AccountId>
        <AccountType/>
      </UserInfo>
      <UserInfo>
        <DisplayName>Ricardo Soto-Diaz</DisplayName>
        <AccountId>27</AccountId>
        <AccountType/>
      </UserInfo>
    </SharedWithUsers>
    <lcf76f155ced4ddcb4097134ff3c332f xmlns="cf387d84-a1ce-48ad-a4f4-38306751633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C89BFB223D7B64DBC2F34EA3190665E" ma:contentTypeVersion="11" ma:contentTypeDescription="Create a new document." ma:contentTypeScope="" ma:versionID="41e6ec47f913440569fcb052cfa5f8bf">
  <xsd:schema xmlns:xsd="http://www.w3.org/2001/XMLSchema" xmlns:xs="http://www.w3.org/2001/XMLSchema" xmlns:p="http://schemas.microsoft.com/office/2006/metadata/properties" xmlns:ns2="cf387d84-a1ce-48ad-a4f4-383067516337" xmlns:ns3="59e8a8d7-9cb5-41a1-a96d-cf0da3c5c100" targetNamespace="http://schemas.microsoft.com/office/2006/metadata/properties" ma:root="true" ma:fieldsID="08e6f2d7d2c9020aea97628334bb99ab" ns2:_="" ns3:_="">
    <xsd:import namespace="cf387d84-a1ce-48ad-a4f4-383067516337"/>
    <xsd:import namespace="59e8a8d7-9cb5-41a1-a96d-cf0da3c5c10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387d84-a1ce-48ad-a4f4-3830675163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2bd3d9c-d4ca-4556-be0e-df8152372c6f"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e8a8d7-9cb5-41a1-a96d-cf0da3c5c10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47315E-4E85-4735-813E-CB6CD9F7C887}">
  <ds:schemaRefs>
    <ds:schemaRef ds:uri="http://schemas.microsoft.com/sharepoint/v3/contenttype/forms"/>
  </ds:schemaRefs>
</ds:datastoreItem>
</file>

<file path=customXml/itemProps2.xml><?xml version="1.0" encoding="utf-8"?>
<ds:datastoreItem xmlns:ds="http://schemas.openxmlformats.org/officeDocument/2006/customXml" ds:itemID="{2B3A1117-5CE8-4C0A-9979-40CF9D04561E}">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59e8a8d7-9cb5-41a1-a96d-cf0da3c5c100"/>
    <ds:schemaRef ds:uri="http://purl.org/dc/elements/1.1/"/>
    <ds:schemaRef ds:uri="http://schemas.microsoft.com/office/2006/metadata/properties"/>
    <ds:schemaRef ds:uri="cf387d84-a1ce-48ad-a4f4-383067516337"/>
    <ds:schemaRef ds:uri="http://www.w3.org/XML/1998/namespace"/>
    <ds:schemaRef ds:uri="http://purl.org/dc/terms/"/>
  </ds:schemaRefs>
</ds:datastoreItem>
</file>

<file path=customXml/itemProps3.xml><?xml version="1.0" encoding="utf-8"?>
<ds:datastoreItem xmlns:ds="http://schemas.openxmlformats.org/officeDocument/2006/customXml" ds:itemID="{1EAB5A2D-FC77-4DE0-AF6E-0A7A9415B3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387d84-a1ce-48ad-a4f4-383067516337"/>
    <ds:schemaRef ds:uri="59e8a8d7-9cb5-41a1-a96d-cf0da3c5c1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2274</TotalTime>
  <Words>594</Words>
  <Application>Microsoft Office PowerPoint</Application>
  <PresentationFormat>Custom</PresentationFormat>
  <Paragraphs>91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36x48</dc:title>
  <dc:creator>Jay Larson</dc:creator>
  <dc:description>Quality poster printing
www.genigraphics.com
1-800-790-4001</dc:description>
  <cp:lastModifiedBy>Gautam, Bhoj R</cp:lastModifiedBy>
  <cp:revision>12</cp:revision>
  <cp:lastPrinted>2017-11-03T00:56:36Z</cp:lastPrinted>
  <dcterms:created xsi:type="dcterms:W3CDTF">2013-02-10T21:14:48Z</dcterms:created>
  <dcterms:modified xsi:type="dcterms:W3CDTF">2023-04-04T21:07:26Z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0x010100DD438902C5010E4D92D4261D754C3BCB</vt:lpwstr>
  </property>
</Properties>
</file>