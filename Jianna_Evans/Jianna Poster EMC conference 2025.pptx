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8432" userDrawn="1">
          <p15:clr>
            <a:srgbClr val="A4A3A4"/>
          </p15:clr>
        </p15:guide>
        <p15:guide id="3" orient="horz" pos="18931" userDrawn="1">
          <p15:clr>
            <a:srgbClr val="A4A3A4"/>
          </p15:clr>
        </p15:guide>
        <p15:guide id="4" pos="95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AABF"/>
    <a:srgbClr val="4494AF"/>
    <a:srgbClr val="FFFFFF"/>
    <a:srgbClr val="0066FF"/>
    <a:srgbClr val="FF66FF"/>
    <a:srgbClr val="0070C0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" d="100"/>
          <a:sy n="18" d="100"/>
        </p:scale>
        <p:origin x="14" y="158"/>
      </p:cViewPr>
      <p:guideLst>
        <p:guide orient="horz" pos="10368"/>
        <p:guide pos="18432"/>
        <p:guide orient="horz" pos="18931"/>
        <p:guide pos="95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9EF0D-B5DC-426A-9325-4CE28BC082D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CC6C5-B7B7-4A6A-B2C4-574F07BD9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8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C6C5-B7B7-4A6A-B2C4-574F07BD9A6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5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40637" y="-40644"/>
            <a:ext cx="44022317" cy="32999688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6859" y="11541763"/>
            <a:ext cx="27968251" cy="7902250"/>
          </a:xfrm>
        </p:spPr>
        <p:txBody>
          <a:bodyPr anchor="b">
            <a:noAutofit/>
          </a:bodyPr>
          <a:lstStyle>
            <a:lvl1pPr algn="r">
              <a:defRPr sz="2592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26859" y="19444006"/>
            <a:ext cx="27968251" cy="5265115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6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72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3" y="12964169"/>
            <a:ext cx="30469032" cy="8767589"/>
          </a:xfrm>
        </p:spPr>
        <p:txBody>
          <a:bodyPr anchor="b"/>
          <a:lstStyle>
            <a:lvl1pPr algn="l">
              <a:defRPr sz="19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0"/>
            <a:ext cx="30469032" cy="4129920"/>
          </a:xfrm>
        </p:spPr>
        <p:txBody>
          <a:bodyPr anchor="t"/>
          <a:lstStyle>
            <a:lvl1pPr marL="0" indent="0" algn="l">
              <a:buNone/>
              <a:defRPr sz="9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4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0" y="2926080"/>
            <a:ext cx="30469027" cy="6339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6083" y="10370827"/>
            <a:ext cx="14822923" cy="18627706"/>
          </a:xfrm>
        </p:spPr>
        <p:txBody>
          <a:bodyPr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  <a:lvl6pPr>
              <a:defRPr sz="5760"/>
            </a:lvl6pPr>
            <a:lvl7pPr>
              <a:defRPr sz="5760"/>
            </a:lvl7pPr>
            <a:lvl8pPr>
              <a:defRPr sz="5760"/>
            </a:lvl8pPr>
            <a:lvl9pPr>
              <a:defRPr sz="5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72179" y="10370835"/>
            <a:ext cx="14822928" cy="18627710"/>
          </a:xfrm>
        </p:spPr>
        <p:txBody>
          <a:bodyPr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  <a:lvl6pPr>
              <a:defRPr sz="5760"/>
            </a:lvl6pPr>
            <a:lvl7pPr>
              <a:defRPr sz="5760"/>
            </a:lvl7pPr>
            <a:lvl8pPr>
              <a:defRPr sz="5760"/>
            </a:lvl8pPr>
            <a:lvl9pPr>
              <a:defRPr sz="5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0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8" y="2926080"/>
            <a:ext cx="30469022" cy="63398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5" y="10372718"/>
            <a:ext cx="14835226" cy="2766058"/>
          </a:xfrm>
        </p:spPr>
        <p:txBody>
          <a:bodyPr anchor="b">
            <a:noAutofit/>
          </a:bodyPr>
          <a:lstStyle>
            <a:lvl1pPr marL="0" indent="0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75" y="13138783"/>
            <a:ext cx="14835226" cy="158597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59872" y="10372718"/>
            <a:ext cx="14835226" cy="2766058"/>
          </a:xfrm>
        </p:spPr>
        <p:txBody>
          <a:bodyPr anchor="b">
            <a:noAutofit/>
          </a:bodyPr>
          <a:lstStyle>
            <a:lvl1pPr marL="0" indent="0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59872" y="13138783"/>
            <a:ext cx="14835226" cy="158597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5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2926080"/>
            <a:ext cx="30469027" cy="6339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4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7193299"/>
            <a:ext cx="13392874" cy="6136637"/>
          </a:xfrm>
        </p:spPr>
        <p:txBody>
          <a:bodyPr anchor="b">
            <a:normAutofit/>
          </a:bodyPr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2122" y="2471642"/>
            <a:ext cx="16252978" cy="265268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75" y="13329934"/>
            <a:ext cx="13392874" cy="12405355"/>
          </a:xfrm>
        </p:spPr>
        <p:txBody>
          <a:bodyPr>
            <a:normAutofit/>
          </a:bodyPr>
          <a:lstStyle>
            <a:lvl1pPr marL="0" indent="0">
              <a:buNone/>
              <a:defRPr sz="672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23042880"/>
            <a:ext cx="30469027" cy="2720342"/>
          </a:xfrm>
        </p:spPr>
        <p:txBody>
          <a:bodyPr anchor="b">
            <a:normAutofit/>
          </a:bodyPr>
          <a:lstStyle>
            <a:lvl1pPr algn="l">
              <a:defRPr sz="1152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26075" y="2926080"/>
            <a:ext cx="30469027" cy="18459446"/>
          </a:xfrm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75" y="25763223"/>
            <a:ext cx="30469027" cy="3235315"/>
          </a:xfrm>
        </p:spPr>
        <p:txBody>
          <a:bodyPr>
            <a:normAutofit/>
          </a:bodyPr>
          <a:lstStyle>
            <a:lvl1pPr marL="0" indent="0">
              <a:buNone/>
              <a:defRPr sz="576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0" y="2926080"/>
            <a:ext cx="30469027" cy="163372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80" y="21457920"/>
            <a:ext cx="30469027" cy="7540618"/>
          </a:xfrm>
        </p:spPr>
        <p:txBody>
          <a:bodyPr anchor="ctr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0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9448" y="2926080"/>
            <a:ext cx="29146474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5155" y="17434560"/>
            <a:ext cx="26015059" cy="18288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76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457920"/>
            <a:ext cx="30469032" cy="7540618"/>
          </a:xfrm>
        </p:spPr>
        <p:txBody>
          <a:bodyPr anchor="ctr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17015" y="3793814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8958" y="13855469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0252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3" y="9273542"/>
            <a:ext cx="30469032" cy="12458208"/>
          </a:xfrm>
        </p:spPr>
        <p:txBody>
          <a:bodyPr anchor="b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19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9448" y="2926080"/>
            <a:ext cx="29146474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6066" y="19263360"/>
            <a:ext cx="30469037" cy="24683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17015" y="3793814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8958" y="13855469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511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073" y="2926080"/>
            <a:ext cx="30439032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6066" y="19263360"/>
            <a:ext cx="30469037" cy="24683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20">
                <a:solidFill>
                  <a:schemeClr val="accent1"/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60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8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691097" y="2926082"/>
            <a:ext cx="4698298" cy="25206965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6075" y="2926082"/>
            <a:ext cx="24936125" cy="252069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40639" y="-40644"/>
            <a:ext cx="44022322" cy="32999688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6078" y="2926080"/>
            <a:ext cx="30469022" cy="6339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5" y="10370835"/>
            <a:ext cx="30469027" cy="1862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945238" y="28998545"/>
            <a:ext cx="3283834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F3ED-4019-40BB-88BE-9CFA21DCC591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6078" y="28998545"/>
            <a:ext cx="2219027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34445" y="28998545"/>
            <a:ext cx="2460662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accent1"/>
                </a:solidFill>
              </a:defRPr>
            </a:lvl1pPr>
          </a:lstStyle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5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</p:sldLayoutIdLst>
  <p:txStyles>
    <p:titleStyle>
      <a:lvl1pPr algn="l" defTabSz="2194560" rtl="0" eaLnBrk="1" latinLnBrk="0" hangingPunct="1">
        <a:spcBef>
          <a:spcPct val="0"/>
        </a:spcBef>
        <a:buNone/>
        <a:defRPr sz="1728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45920" indent="-164592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86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7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7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oleObject" Target="../embeddings/oleObject4.bin"/><Relationship Id="rId3" Type="http://schemas.openxmlformats.org/officeDocument/2006/relationships/hyperlink" Target="mailto:bgautam@uncfsu.edu" TargetMode="External"/><Relationship Id="rId7" Type="http://schemas.openxmlformats.org/officeDocument/2006/relationships/image" Target="../media/image3.emf"/><Relationship Id="rId12" Type="http://schemas.openxmlformats.org/officeDocument/2006/relationships/image" Target="../media/image6.tif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5.emf"/><Relationship Id="rId5" Type="http://schemas.openxmlformats.org/officeDocument/2006/relationships/image" Target="../media/image2.png"/><Relationship Id="rId15" Type="http://schemas.openxmlformats.org/officeDocument/2006/relationships/image" Target="../media/image8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.png"/><Relationship Id="rId9" Type="http://schemas.openxmlformats.org/officeDocument/2006/relationships/image" Target="../media/image4.emf"/><Relationship Id="rId1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DD670D-B871-64F6-714B-6044EAB2C45E}"/>
              </a:ext>
            </a:extLst>
          </p:cNvPr>
          <p:cNvSpPr/>
          <p:nvPr/>
        </p:nvSpPr>
        <p:spPr>
          <a:xfrm>
            <a:off x="0" y="-84601"/>
            <a:ext cx="43955795" cy="3239458"/>
          </a:xfrm>
          <a:prstGeom prst="rect">
            <a:avLst/>
          </a:prstGeom>
          <a:solidFill>
            <a:schemeClr val="accent1">
              <a:lumMod val="50000"/>
              <a:alpha val="78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8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Characterizing Structural and Thermal Properties of Nb</a:t>
            </a:r>
            <a:r>
              <a:rPr lang="en-US" sz="8000" b="1" kern="100" baseline="-25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8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8000" b="1" kern="100" baseline="-25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8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8000" b="1" kern="100" baseline="-25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8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0" b="1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endParaRPr lang="en-US" sz="8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4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Jianna Evans, Nisha H. Makani, Bhoj Gautam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4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Chemistry, Physics and Materials Science, Fayetteville State University, Fayetteville, North Carolina 28301, United States of America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</a:t>
            </a:r>
            <a:endParaRPr lang="en-US" altLang="ko-KR" sz="7200" b="1" dirty="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4F083-CD03-E194-4916-A8B40D8EB31B}"/>
              </a:ext>
            </a:extLst>
          </p:cNvPr>
          <p:cNvSpPr/>
          <p:nvPr/>
        </p:nvSpPr>
        <p:spPr>
          <a:xfrm>
            <a:off x="0" y="3542204"/>
            <a:ext cx="43891200" cy="29376196"/>
          </a:xfrm>
          <a:prstGeom prst="rect">
            <a:avLst/>
          </a:prstGeom>
          <a:solidFill>
            <a:schemeClr val="accent1">
              <a:lumMod val="50000"/>
              <a:alpha val="62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6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834080" y="3972791"/>
            <a:ext cx="14693898" cy="1140564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2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75933" y="26256380"/>
            <a:ext cx="14763007" cy="641237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2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8825252" y="15676100"/>
            <a:ext cx="14702727" cy="723069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2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276974" y="3929371"/>
            <a:ext cx="14211670" cy="1338326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</a:pPr>
            <a:endParaRPr lang="en-US" alt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3" name="TextBox 73"/>
          <p:cNvSpPr txBox="1">
            <a:spLocks noChangeArrowheads="1"/>
          </p:cNvSpPr>
          <p:nvPr/>
        </p:nvSpPr>
        <p:spPr bwMode="auto">
          <a:xfrm>
            <a:off x="34440297" y="15500661"/>
            <a:ext cx="3706595" cy="999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854" tIns="37926" rIns="75854" bIns="37926">
            <a:spAutoFit/>
          </a:bodyPr>
          <a:lstStyle>
            <a:lvl1pPr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184" name="TextBox 82"/>
          <p:cNvSpPr txBox="1">
            <a:spLocks noChangeArrowheads="1"/>
          </p:cNvSpPr>
          <p:nvPr/>
        </p:nvSpPr>
        <p:spPr bwMode="auto">
          <a:xfrm>
            <a:off x="34392963" y="26132882"/>
            <a:ext cx="8561493" cy="999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854" tIns="37926" rIns="75854" bIns="37926">
            <a:spAutoFit/>
          </a:bodyPr>
          <a:lstStyle>
            <a:lvl1pPr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BC9D75-5AAC-45E1-AF39-E55FB874AD66}"/>
              </a:ext>
            </a:extLst>
          </p:cNvPr>
          <p:cNvSpPr txBox="1"/>
          <p:nvPr/>
        </p:nvSpPr>
        <p:spPr>
          <a:xfrm>
            <a:off x="61927926" y="9788193"/>
            <a:ext cx="808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Box 82">
            <a:extLst>
              <a:ext uri="{FF2B5EF4-FFF2-40B4-BE49-F238E27FC236}">
                <a16:creationId xmlns:a16="http://schemas.microsoft.com/office/drawing/2014/main" id="{0F6FAED0-79F9-4023-A782-8D9A13E46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5883" y="30164546"/>
            <a:ext cx="14763007" cy="24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854" tIns="37926" rIns="75854" bIns="37926">
            <a:spAutoFit/>
          </a:bodyPr>
          <a:lstStyle>
            <a:lvl1pPr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 Information: </a:t>
            </a:r>
          </a:p>
          <a:p>
            <a:pPr eaLnBrk="1" hangingPunct="1"/>
            <a:r>
              <a:rPr lang="en-US" alt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Bhoj Gautam, 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Chemistry, Physics and Materials Science</a:t>
            </a:r>
          </a:p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Fayetteville State University, Fayetteville, NC-28301</a:t>
            </a:r>
          </a:p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bgautam@uncfsu.edu</a:t>
            </a:r>
            <a:r>
              <a:rPr lang="en-US" alt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Phone: 910-672-1653</a:t>
            </a:r>
            <a:endParaRPr lang="en-US" alt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F09F9-1255-496C-B574-49AA8DA9A3EB}"/>
              </a:ext>
            </a:extLst>
          </p:cNvPr>
          <p:cNvSpPr txBox="1"/>
          <p:nvPr/>
        </p:nvSpPr>
        <p:spPr>
          <a:xfrm>
            <a:off x="29641800" y="8345269"/>
            <a:ext cx="51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F9D36C-7A7F-458B-B7EE-692FBEB5A544}"/>
              </a:ext>
            </a:extLst>
          </p:cNvPr>
          <p:cNvSpPr txBox="1"/>
          <p:nvPr/>
        </p:nvSpPr>
        <p:spPr>
          <a:xfrm>
            <a:off x="36489376" y="8497669"/>
            <a:ext cx="51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1CC765-3E6D-41D3-8CEC-A7EA7596CB13}"/>
              </a:ext>
            </a:extLst>
          </p:cNvPr>
          <p:cNvSpPr txBox="1"/>
          <p:nvPr/>
        </p:nvSpPr>
        <p:spPr>
          <a:xfrm>
            <a:off x="16598736" y="24231601"/>
            <a:ext cx="393864" cy="65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619130-483E-4D98-8F07-FEE9BBD8A0CA}"/>
              </a:ext>
            </a:extLst>
          </p:cNvPr>
          <p:cNvSpPr txBox="1"/>
          <p:nvPr/>
        </p:nvSpPr>
        <p:spPr>
          <a:xfrm>
            <a:off x="22326600" y="24271069"/>
            <a:ext cx="30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767" y="23719860"/>
            <a:ext cx="13739413" cy="886038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F0D3F37-4EC8-4330-BAAC-96FD61971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86" y="122167"/>
            <a:ext cx="3482269" cy="2170765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857CA6E8-98E8-42FF-9B6E-CCC4AD82C303}"/>
              </a:ext>
            </a:extLst>
          </p:cNvPr>
          <p:cNvSpPr/>
          <p:nvPr/>
        </p:nvSpPr>
        <p:spPr>
          <a:xfrm>
            <a:off x="28806413" y="23250600"/>
            <a:ext cx="14721565" cy="266456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95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379F401-6A9A-4042-99CA-0B8544C41820}"/>
              </a:ext>
            </a:extLst>
          </p:cNvPr>
          <p:cNvSpPr/>
          <p:nvPr/>
        </p:nvSpPr>
        <p:spPr>
          <a:xfrm>
            <a:off x="248355" y="3939339"/>
            <a:ext cx="13739412" cy="1936755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3600" b="1">
              <a:solidFill>
                <a:srgbClr val="2D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5FCBAF-A155-431C-B1E5-652954474D0D}"/>
              </a:ext>
            </a:extLst>
          </p:cNvPr>
          <p:cNvSpPr txBox="1"/>
          <p:nvPr/>
        </p:nvSpPr>
        <p:spPr>
          <a:xfrm>
            <a:off x="5284042" y="23788680"/>
            <a:ext cx="443797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D29062-CE5C-4FB6-B21E-962581B655DE}"/>
              </a:ext>
            </a:extLst>
          </p:cNvPr>
          <p:cNvSpPr/>
          <p:nvPr/>
        </p:nvSpPr>
        <p:spPr>
          <a:xfrm>
            <a:off x="14279793" y="17691968"/>
            <a:ext cx="14172347" cy="14913743"/>
          </a:xfrm>
          <a:prstGeom prst="rect">
            <a:avLst/>
          </a:prstGeom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192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E19D5D-01F5-4D93-925B-FDC37B7584D8}"/>
              </a:ext>
            </a:extLst>
          </p:cNvPr>
          <p:cNvSpPr txBox="1"/>
          <p:nvPr/>
        </p:nvSpPr>
        <p:spPr>
          <a:xfrm>
            <a:off x="17938468" y="17763956"/>
            <a:ext cx="8776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and Discussions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33C1E-0C8E-531D-48F8-951D044206BC}"/>
              </a:ext>
            </a:extLst>
          </p:cNvPr>
          <p:cNvSpPr txBox="1"/>
          <p:nvPr/>
        </p:nvSpPr>
        <p:spPr>
          <a:xfrm>
            <a:off x="14580078" y="4076450"/>
            <a:ext cx="13641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Synthesis and characterization of  Nb</a:t>
            </a:r>
            <a:r>
              <a:rPr lang="en-US" sz="60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60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60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endParaRPr lang="en-US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EB2AA9-D6D4-52F3-CE11-D84CF53D4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5506" y="1617345"/>
            <a:ext cx="7311112" cy="131067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B8EB243-8C32-4C09-089B-09ED61D539A8}"/>
              </a:ext>
            </a:extLst>
          </p:cNvPr>
          <p:cNvSpPr txBox="1"/>
          <p:nvPr/>
        </p:nvSpPr>
        <p:spPr>
          <a:xfrm>
            <a:off x="28837757" y="23437384"/>
            <a:ext cx="1461857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Acknowledgement</a:t>
            </a:r>
            <a:endParaRPr lang="en-US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synthesis</a:t>
            </a: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characterization work was supported by DOE BES award number DE-SC0024611.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B239F2-1565-9DDC-B65A-0BA6EDBA318B}"/>
              </a:ext>
            </a:extLst>
          </p:cNvPr>
          <p:cNvSpPr txBox="1"/>
          <p:nvPr/>
        </p:nvSpPr>
        <p:spPr>
          <a:xfrm>
            <a:off x="95177" y="5160933"/>
            <a:ext cx="13653584" cy="1855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Nb-based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such as Nb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exhibit high electrical conductivity, making them well-suited for energy storage and electronic applications. However, the greater stability of Nb-based MAX phases poses challenges in the etching and, consequently, is difficult to prepare as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Additionally, Nb-based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highly susceptible to oxidation, altering their fundamental properties. This study focuses on Nb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investigating their structural and thermal properties using XRD, SEM, Raman spectroscopy, TGA, and DSC measurements. Thermal analysis plays a crucial role in determining materials' structural integrity and potential applications under high-temperature conditions. XRD analysis confirmed the successful etching of aluminum, as evidenced by the disappearance of the characteristic aluminum peak, validating the preparation process. Raman spectra show significant peaks at ~300 and 677 cm</a:t>
            </a:r>
            <a:r>
              <a:rPr lang="en-US" sz="40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belonging to Nb-O and Nb-C respectively. TGA was utilized to measure thermal stability, oxidation analysis, and degradation behavior by monitoring the critical change in weight percentage. DSC measurements indicate no significant thermal events up to 300°C during heating and cooling cycles. Overall, this analysis aims to contribute to the information database of properties to extend the possible applications of Nb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comprehensive analysis provides valuable insights into the structural and thermal behavior of Nb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40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contributing to the knowledge base necessary for their potential application in high-temperature and oxidation-sensitive environments. The findings aim to expand the scope of Nb-based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future technological advancements.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7664ED-0BAB-46BE-8F86-DF005E71809A}"/>
              </a:ext>
            </a:extLst>
          </p:cNvPr>
          <p:cNvSpPr txBox="1"/>
          <p:nvPr/>
        </p:nvSpPr>
        <p:spPr>
          <a:xfrm>
            <a:off x="5508242" y="4063606"/>
            <a:ext cx="3190763" cy="1028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6EBEC0-8492-0F0D-0863-01F8412A71B0}"/>
              </a:ext>
            </a:extLst>
          </p:cNvPr>
          <p:cNvSpPr txBox="1"/>
          <p:nvPr/>
        </p:nvSpPr>
        <p:spPr>
          <a:xfrm>
            <a:off x="268003" y="27143897"/>
            <a:ext cx="3952108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conductivity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2927C1-04DE-771F-2E4E-E0D6F9452048}"/>
              </a:ext>
            </a:extLst>
          </p:cNvPr>
          <p:cNvSpPr txBox="1"/>
          <p:nvPr/>
        </p:nvSpPr>
        <p:spPr>
          <a:xfrm>
            <a:off x="194302" y="28354777"/>
            <a:ext cx="6685314" cy="707886"/>
          </a:xfrm>
          <a:prstGeom prst="rect">
            <a:avLst/>
          </a:prstGeom>
          <a:solidFill>
            <a:srgbClr val="6AAABF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6AE0AE-7443-7BED-D4DF-8F7CF6D87CAE}"/>
              </a:ext>
            </a:extLst>
          </p:cNvPr>
          <p:cNvSpPr txBox="1"/>
          <p:nvPr/>
        </p:nvSpPr>
        <p:spPr>
          <a:xfrm>
            <a:off x="32820722" y="4031516"/>
            <a:ext cx="8776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and Discussions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CA1F13-2F8C-EEC7-48C8-79D1BC503CEC}"/>
              </a:ext>
            </a:extLst>
          </p:cNvPr>
          <p:cNvSpPr txBox="1"/>
          <p:nvPr/>
        </p:nvSpPr>
        <p:spPr>
          <a:xfrm>
            <a:off x="14332453" y="23581775"/>
            <a:ext cx="13774152" cy="868699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etching of Nb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confirmed by the appearance of a characteristic peak at 6.17° and 7.17°, corresponding to the (002) and (004) plane reply. A noticeable shift toward lower angles suggests an increased interlayer spacing due to sheet separation.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 analysis further confirms the formation of Nb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Tₓ, revealing micro- and nanoscale sheet-like structures.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Raman peaks at 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significant peaks at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133 cm⁻¹, Out-of-plane vibrations of niobium (Nb) atoms, 249 cm⁻¹: Nb-C stretching vibrations</a:t>
            </a:r>
            <a:r>
              <a:rPr lang="en-US" alt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 cm⁻¹: Mixed vibrations involving Nb-C bonds and Nb-T (T = surface terminations such as -O, -OH), 677 cm⁻¹: Vibrations associated with surface functional groups, particularly Nb-O or Nb-OH terminal bonds; may also indicate the presence of Nb</a:t>
            </a:r>
            <a:r>
              <a:rPr kumimoji="0" lang="en-US" altLang="en-US" sz="400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surface oxidation.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57A98D-7D56-C211-0C07-76A61EB951E1}"/>
              </a:ext>
            </a:extLst>
          </p:cNvPr>
          <p:cNvSpPr txBox="1"/>
          <p:nvPr/>
        </p:nvSpPr>
        <p:spPr>
          <a:xfrm>
            <a:off x="16118643" y="18989286"/>
            <a:ext cx="873957" cy="584775"/>
          </a:xfrm>
          <a:prstGeom prst="rect">
            <a:avLst/>
          </a:prstGeom>
          <a:solidFill>
            <a:srgbClr val="6AAABF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09E627-627D-9C6B-5CB4-AA1C08483A84}"/>
              </a:ext>
            </a:extLst>
          </p:cNvPr>
          <p:cNvSpPr txBox="1"/>
          <p:nvPr/>
        </p:nvSpPr>
        <p:spPr>
          <a:xfrm>
            <a:off x="20926304" y="19005267"/>
            <a:ext cx="925253" cy="584775"/>
          </a:xfrm>
          <a:prstGeom prst="rect">
            <a:avLst/>
          </a:prstGeom>
          <a:solidFill>
            <a:srgbClr val="6AAABF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9820202-6E06-0562-6861-1A0D678C83D1}"/>
              </a:ext>
            </a:extLst>
          </p:cNvPr>
          <p:cNvSpPr txBox="1"/>
          <p:nvPr/>
        </p:nvSpPr>
        <p:spPr>
          <a:xfrm>
            <a:off x="248355" y="25556263"/>
            <a:ext cx="5393527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surface area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D6A5FF-798B-0AD3-5924-66A91EE2AAB0}"/>
              </a:ext>
            </a:extLst>
          </p:cNvPr>
          <p:cNvSpPr txBox="1"/>
          <p:nvPr/>
        </p:nvSpPr>
        <p:spPr>
          <a:xfrm>
            <a:off x="251376" y="26341039"/>
            <a:ext cx="7916985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Tunable surface chemistry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1BCFCA-42D8-C759-6073-BB185967D696}"/>
              </a:ext>
            </a:extLst>
          </p:cNvPr>
          <p:cNvSpPr txBox="1"/>
          <p:nvPr/>
        </p:nvSpPr>
        <p:spPr>
          <a:xfrm>
            <a:off x="28775933" y="26974620"/>
            <a:ext cx="1476300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Lee, K., Kwon, S. Y., Choi, J., Kim, J., Woo, T., Ryu, J., ... &amp; Lee, J. H. (2024).  </a:t>
            </a:r>
            <a:r>
              <a:rPr lang="en-US" sz="2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Materials Chemistry C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12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893-902.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Lipatov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</a:t>
            </a:r>
            <a:r>
              <a:rPr lang="en-US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Alhabeb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Lu, H., Zhao, S., </a:t>
            </a:r>
            <a:r>
              <a:rPr lang="en-US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Loes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J., Vorobeva, N. S., ... &amp; </a:t>
            </a:r>
            <a:r>
              <a:rPr lang="en-US" sz="2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Sinitskii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(2020).  </a:t>
            </a:r>
            <a:r>
              <a:rPr lang="en-US" sz="2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Advanced Electronic Materials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1901382.</a:t>
            </a:r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Lan, L., Ni, Z., Zhao, C., Gao, J., Tang, X., Qu, Z., ... &amp; Qiu, T. (2024). </a:t>
            </a:r>
            <a:r>
              <a:rPr lang="en-US" sz="2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Langmuir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40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(40), 20945-20953.</a:t>
            </a:r>
            <a:endParaRPr lang="en-US" sz="2800" b="1" dirty="0">
              <a:solidFill>
                <a:srgbClr val="22222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4B35261-7AA5-4630-D98B-78F9D155CD1C}"/>
              </a:ext>
            </a:extLst>
          </p:cNvPr>
          <p:cNvSpPr txBox="1"/>
          <p:nvPr/>
        </p:nvSpPr>
        <p:spPr>
          <a:xfrm>
            <a:off x="28957432" y="16372799"/>
            <a:ext cx="1450058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XRD and SEM analyses confirm the etching of Nb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CTₓ, as evidenced by the appearance of the characteristic etching peak and the sheet-like morphology.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the appearance of an additional peak attributed to oxide formation suggests that Nb-based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MXenes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susceptible to oxidation during synthesis, highlighting the need for further optimization of the etching process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Raman spectroscopy also reveals signs of oxidation in the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structure.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Nb₄C₃T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ₓ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good thermal stability up to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~500 °C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35D27D9-1D3B-7539-E40D-EB850AD62D56}"/>
              </a:ext>
            </a:extLst>
          </p:cNvPr>
          <p:cNvGrpSpPr/>
          <p:nvPr/>
        </p:nvGrpSpPr>
        <p:grpSpPr>
          <a:xfrm>
            <a:off x="14485269" y="6505810"/>
            <a:ext cx="1561746" cy="1814343"/>
            <a:chOff x="14334236" y="6567669"/>
            <a:chExt cx="1561746" cy="1814343"/>
          </a:xfrm>
          <a:solidFill>
            <a:schemeClr val="accent1">
              <a:lumMod val="50000"/>
            </a:schemeClr>
          </a:solidFill>
        </p:grpSpPr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D6F3E5E6-E979-03C6-71C3-1848C644D28C}"/>
                </a:ext>
              </a:extLst>
            </p:cNvPr>
            <p:cNvSpPr/>
            <p:nvPr/>
          </p:nvSpPr>
          <p:spPr>
            <a:xfrm>
              <a:off x="14553460" y="6653844"/>
              <a:ext cx="597519" cy="576414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AE045129-0E45-0CEF-887E-E2BF8FCF8C6A}"/>
                </a:ext>
              </a:extLst>
            </p:cNvPr>
            <p:cNvSpPr/>
            <p:nvPr/>
          </p:nvSpPr>
          <p:spPr>
            <a:xfrm>
              <a:off x="14658400" y="7143009"/>
              <a:ext cx="597519" cy="576414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4281B3AB-BEFE-EC63-2FAE-81634DD3292B}"/>
                </a:ext>
              </a:extLst>
            </p:cNvPr>
            <p:cNvSpPr/>
            <p:nvPr/>
          </p:nvSpPr>
          <p:spPr>
            <a:xfrm>
              <a:off x="15225829" y="6567669"/>
              <a:ext cx="597519" cy="576414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B868C890-F0BC-9895-AC39-79BD4A1F885A}"/>
                </a:ext>
              </a:extLst>
            </p:cNvPr>
            <p:cNvSpPr/>
            <p:nvPr/>
          </p:nvSpPr>
          <p:spPr>
            <a:xfrm>
              <a:off x="15298463" y="7235850"/>
              <a:ext cx="597519" cy="576414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66FA47B2-F9BD-EBBE-9829-21AA2B27A7E5}"/>
                </a:ext>
              </a:extLst>
            </p:cNvPr>
            <p:cNvSpPr/>
            <p:nvPr/>
          </p:nvSpPr>
          <p:spPr>
            <a:xfrm>
              <a:off x="14679672" y="7805598"/>
              <a:ext cx="597519" cy="576414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F316750D-107F-734F-4D6E-193A387AED36}"/>
                </a:ext>
              </a:extLst>
            </p:cNvPr>
            <p:cNvSpPr/>
            <p:nvPr/>
          </p:nvSpPr>
          <p:spPr>
            <a:xfrm>
              <a:off x="14334236" y="7406163"/>
              <a:ext cx="597519" cy="576414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5EF48F3-2371-250F-54CD-5AFC48006DC0}"/>
              </a:ext>
            </a:extLst>
          </p:cNvPr>
          <p:cNvGrpSpPr/>
          <p:nvPr/>
        </p:nvGrpSpPr>
        <p:grpSpPr>
          <a:xfrm>
            <a:off x="19215029" y="6517390"/>
            <a:ext cx="2028155" cy="1690908"/>
            <a:chOff x="17953018" y="6509218"/>
            <a:chExt cx="2028155" cy="1690908"/>
          </a:xfrm>
          <a:solidFill>
            <a:schemeClr val="accent1">
              <a:lumMod val="50000"/>
            </a:schemeClr>
          </a:solidFill>
        </p:grpSpPr>
        <p:sp>
          <p:nvSpPr>
            <p:cNvPr id="102" name="Flowchart: Punched Tape 101">
              <a:extLst>
                <a:ext uri="{FF2B5EF4-FFF2-40B4-BE49-F238E27FC236}">
                  <a16:creationId xmlns:a16="http://schemas.microsoft.com/office/drawing/2014/main" id="{70D231DD-807C-D2C4-BC8B-30E6262DCC01}"/>
                </a:ext>
              </a:extLst>
            </p:cNvPr>
            <p:cNvSpPr/>
            <p:nvPr/>
          </p:nvSpPr>
          <p:spPr>
            <a:xfrm>
              <a:off x="17953018" y="6509218"/>
              <a:ext cx="1113755" cy="776508"/>
            </a:xfrm>
            <a:prstGeom prst="flowChartPunchedTap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" name="Flowchart: Punched Tape 102">
              <a:extLst>
                <a:ext uri="{FF2B5EF4-FFF2-40B4-BE49-F238E27FC236}">
                  <a16:creationId xmlns:a16="http://schemas.microsoft.com/office/drawing/2014/main" id="{BF88E5EB-F349-AFC0-DE0B-EC37A72B3CC9}"/>
                </a:ext>
              </a:extLst>
            </p:cNvPr>
            <p:cNvSpPr/>
            <p:nvPr/>
          </p:nvSpPr>
          <p:spPr>
            <a:xfrm>
              <a:off x="18105418" y="6661618"/>
              <a:ext cx="1113755" cy="776508"/>
            </a:xfrm>
            <a:prstGeom prst="flowChartPunchedTap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Flowchart: Punched Tape 103">
              <a:extLst>
                <a:ext uri="{FF2B5EF4-FFF2-40B4-BE49-F238E27FC236}">
                  <a16:creationId xmlns:a16="http://schemas.microsoft.com/office/drawing/2014/main" id="{A4F57C28-7361-CFFB-294B-A8EF59108B38}"/>
                </a:ext>
              </a:extLst>
            </p:cNvPr>
            <p:cNvSpPr/>
            <p:nvPr/>
          </p:nvSpPr>
          <p:spPr>
            <a:xfrm>
              <a:off x="18257818" y="6814018"/>
              <a:ext cx="1113755" cy="776508"/>
            </a:xfrm>
            <a:prstGeom prst="flowChartPunchedTap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Flowchart: Punched Tape 104">
              <a:extLst>
                <a:ext uri="{FF2B5EF4-FFF2-40B4-BE49-F238E27FC236}">
                  <a16:creationId xmlns:a16="http://schemas.microsoft.com/office/drawing/2014/main" id="{84AFD726-F3F6-3754-8B91-B4759F618A4A}"/>
                </a:ext>
              </a:extLst>
            </p:cNvPr>
            <p:cNvSpPr/>
            <p:nvPr/>
          </p:nvSpPr>
          <p:spPr>
            <a:xfrm>
              <a:off x="18410218" y="6966418"/>
              <a:ext cx="1113755" cy="776508"/>
            </a:xfrm>
            <a:prstGeom prst="flowChartPunchedTap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Flowchart: Punched Tape 105">
              <a:extLst>
                <a:ext uri="{FF2B5EF4-FFF2-40B4-BE49-F238E27FC236}">
                  <a16:creationId xmlns:a16="http://schemas.microsoft.com/office/drawing/2014/main" id="{FB07C941-7F98-889D-85B2-85AB4716B508}"/>
                </a:ext>
              </a:extLst>
            </p:cNvPr>
            <p:cNvSpPr/>
            <p:nvPr/>
          </p:nvSpPr>
          <p:spPr>
            <a:xfrm>
              <a:off x="18562618" y="7118818"/>
              <a:ext cx="1113755" cy="776508"/>
            </a:xfrm>
            <a:prstGeom prst="flowChartPunchedTap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Flowchart: Punched Tape 106">
              <a:extLst>
                <a:ext uri="{FF2B5EF4-FFF2-40B4-BE49-F238E27FC236}">
                  <a16:creationId xmlns:a16="http://schemas.microsoft.com/office/drawing/2014/main" id="{5C5D912B-7508-295C-56A9-3640179A77D5}"/>
                </a:ext>
              </a:extLst>
            </p:cNvPr>
            <p:cNvSpPr/>
            <p:nvPr/>
          </p:nvSpPr>
          <p:spPr>
            <a:xfrm>
              <a:off x="18715018" y="7271218"/>
              <a:ext cx="1113755" cy="776508"/>
            </a:xfrm>
            <a:prstGeom prst="flowChartPunchedTap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Flowchart: Punched Tape 107">
              <a:extLst>
                <a:ext uri="{FF2B5EF4-FFF2-40B4-BE49-F238E27FC236}">
                  <a16:creationId xmlns:a16="http://schemas.microsoft.com/office/drawing/2014/main" id="{16648089-0F4F-44C2-720D-77BA27B4F1C3}"/>
                </a:ext>
              </a:extLst>
            </p:cNvPr>
            <p:cNvSpPr/>
            <p:nvPr/>
          </p:nvSpPr>
          <p:spPr>
            <a:xfrm>
              <a:off x="18867418" y="7423618"/>
              <a:ext cx="1113755" cy="776508"/>
            </a:xfrm>
            <a:prstGeom prst="flowChartPunchedTap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B026CFBA-0B79-0E7A-D25E-E5C45CE0156C}"/>
              </a:ext>
            </a:extLst>
          </p:cNvPr>
          <p:cNvSpPr txBox="1"/>
          <p:nvPr/>
        </p:nvSpPr>
        <p:spPr>
          <a:xfrm>
            <a:off x="15786236" y="6846133"/>
            <a:ext cx="3657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HF etching 96 hours at RT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DF3EE24-E7A2-23B1-4600-B01D82AC596E}"/>
              </a:ext>
            </a:extLst>
          </p:cNvPr>
          <p:cNvSpPr txBox="1"/>
          <p:nvPr/>
        </p:nvSpPr>
        <p:spPr>
          <a:xfrm>
            <a:off x="13812097" y="8590147"/>
            <a:ext cx="3657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Nb</a:t>
            </a:r>
            <a:r>
              <a:rPr lang="en-US" sz="36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</a:t>
            </a:r>
            <a:r>
              <a:rPr lang="en-US" sz="36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MAX phase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6971F0-8E73-6D11-824E-9372D58960A4}"/>
              </a:ext>
            </a:extLst>
          </p:cNvPr>
          <p:cNvSpPr txBox="1"/>
          <p:nvPr/>
        </p:nvSpPr>
        <p:spPr>
          <a:xfrm>
            <a:off x="18040205" y="8471308"/>
            <a:ext cx="3657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Nb</a:t>
            </a:r>
            <a:r>
              <a:rPr lang="en-US" sz="36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36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36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multilayers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44109DA-D396-F739-4BA5-CC5D607C49D8}"/>
              </a:ext>
            </a:extLst>
          </p:cNvPr>
          <p:cNvSpPr txBox="1"/>
          <p:nvPr/>
        </p:nvSpPr>
        <p:spPr>
          <a:xfrm>
            <a:off x="14292642" y="11192355"/>
            <a:ext cx="139285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gram of Nb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</a:t>
            </a:r>
            <a:r>
              <a:rPr lang="en-US" sz="4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powder was treated with 10 mL of  HF at RT for 96 hours with uniform stirring.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the reaction was complete, the resulting mixture was washed sequentially with hydrochloric acid (HCl) and deionized (DI) water until the pH of the solution reached approximately 6.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sample was then dried in an oven at 60 °C for 24 hours. The obtained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MXene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subsequently used for various characterizations, including XRD, SEM, Raman spectroscopy, TGA, and DSC."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9105AC5-48D7-4265-A187-8A0B43A28502}"/>
              </a:ext>
            </a:extLst>
          </p:cNvPr>
          <p:cNvSpPr txBox="1"/>
          <p:nvPr/>
        </p:nvSpPr>
        <p:spPr>
          <a:xfrm>
            <a:off x="194301" y="30623355"/>
            <a:ext cx="6475995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EMI shielding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4E2CDE8-94F4-C9E8-3DBF-27F97C789CAB}"/>
              </a:ext>
            </a:extLst>
          </p:cNvPr>
          <p:cNvSpPr txBox="1"/>
          <p:nvPr/>
        </p:nvSpPr>
        <p:spPr>
          <a:xfrm>
            <a:off x="194302" y="29647451"/>
            <a:ext cx="5130836" cy="707886"/>
          </a:xfrm>
          <a:prstGeom prst="rect">
            <a:avLst/>
          </a:prstGeom>
          <a:solidFill>
            <a:srgbClr val="4494A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2309DA9-AE98-DCA6-2AB2-813DED245DAC}"/>
              </a:ext>
            </a:extLst>
          </p:cNvPr>
          <p:cNvSpPr txBox="1"/>
          <p:nvPr/>
        </p:nvSpPr>
        <p:spPr>
          <a:xfrm>
            <a:off x="238767" y="31524914"/>
            <a:ext cx="7207062" cy="707886"/>
          </a:xfrm>
          <a:prstGeom prst="rect">
            <a:avLst/>
          </a:prstGeom>
          <a:solidFill>
            <a:srgbClr val="4494A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Electrocatalysis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1802AE7-57B4-FE03-324A-2DC484067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871660"/>
              </p:ext>
            </p:extLst>
          </p:nvPr>
        </p:nvGraphicFramePr>
        <p:xfrm>
          <a:off x="13880941" y="19168252"/>
          <a:ext cx="5572678" cy="4190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4609001" imgH="3465813" progId="Origin95.Graph">
                  <p:embed/>
                </p:oleObj>
              </mc:Choice>
              <mc:Fallback>
                <p:oleObj name="Graph" r:id="rId6" imgW="4609001" imgH="3465813" progId="Origin95.Grap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6E9D5B6-1705-6405-FC84-6858D89B9B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880941" y="19168252"/>
                        <a:ext cx="5572678" cy="4190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4AD1250-AEBC-5DF1-9205-88F3A0E200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456517"/>
              </p:ext>
            </p:extLst>
          </p:nvPr>
        </p:nvGraphicFramePr>
        <p:xfrm>
          <a:off x="23276256" y="19128892"/>
          <a:ext cx="5615086" cy="4308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4631968" imgH="3554505" progId="Origin95.Graph">
                  <p:embed/>
                </p:oleObj>
              </mc:Choice>
              <mc:Fallback>
                <p:oleObj name="Graph" r:id="rId8" imgW="4631968" imgH="3554505" progId="Origin95.Grap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174707B-409D-775D-AB02-5BC62CAFB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276256" y="19128892"/>
                        <a:ext cx="5615086" cy="43084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6A80097-651B-5AA7-C2FE-1220CF244B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85764"/>
              </p:ext>
            </p:extLst>
          </p:nvPr>
        </p:nvGraphicFramePr>
        <p:xfrm>
          <a:off x="37390412" y="10219312"/>
          <a:ext cx="6999710" cy="5370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4631968" imgH="3554505" progId="Origin95.Graph">
                  <p:embed/>
                </p:oleObj>
              </mc:Choice>
              <mc:Fallback>
                <p:oleObj name="Graph" r:id="rId10" imgW="4631968" imgH="3554505" progId="Origin95.Grap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04A2A80-280E-2930-D717-F80B19391D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390412" y="10219312"/>
                        <a:ext cx="6999710" cy="5370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A close-up of a crystal&#10;&#10;AI-generated content may be incorrect.">
            <a:extLst>
              <a:ext uri="{FF2B5EF4-FFF2-40B4-BE49-F238E27FC236}">
                <a16:creationId xmlns:a16="http://schemas.microsoft.com/office/drawing/2014/main" id="{1D140F83-5E8E-24D4-C276-EAC8C12F2A2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943" y="19606315"/>
            <a:ext cx="4376280" cy="3282210"/>
          </a:xfrm>
          <a:prstGeom prst="rect">
            <a:avLst/>
          </a:prstGeom>
        </p:spPr>
      </p:pic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CD303B9-463B-DFC8-7F8C-BB7F815EAF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873175"/>
              </p:ext>
            </p:extLst>
          </p:nvPr>
        </p:nvGraphicFramePr>
        <p:xfrm>
          <a:off x="37494274" y="4835211"/>
          <a:ext cx="6919060" cy="5309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3" imgW="4631968" imgH="3554505" progId="Origin95.Graph">
                  <p:embed/>
                </p:oleObj>
              </mc:Choice>
              <mc:Fallback>
                <p:oleObj name="Graph" r:id="rId13" imgW="4631968" imgH="3554505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494274" y="4835211"/>
                        <a:ext cx="6919060" cy="5309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8" descr="M4X3 MXenes: Application in Energy Storage Devices | Nano-Micro Letters">
            <a:extLst>
              <a:ext uri="{FF2B5EF4-FFF2-40B4-BE49-F238E27FC236}">
                <a16:creationId xmlns:a16="http://schemas.microsoft.com/office/drawing/2014/main" id="{AC43DDDC-3818-352E-21CF-BF3D70D30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648" y="25556263"/>
            <a:ext cx="6524625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anomaterials 13 00919 g001 550">
            <a:extLst>
              <a:ext uri="{FF2B5EF4-FFF2-40B4-BE49-F238E27FC236}">
                <a16:creationId xmlns:a16="http://schemas.microsoft.com/office/drawing/2014/main" id="{BC245492-8FEB-9D67-78D0-5A7CC960C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2818" y="6142487"/>
            <a:ext cx="6846462" cy="418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98C7B8E-15F8-42E0-9A34-FA1E43232328}"/>
              </a:ext>
            </a:extLst>
          </p:cNvPr>
          <p:cNvSpPr txBox="1"/>
          <p:nvPr/>
        </p:nvSpPr>
        <p:spPr>
          <a:xfrm>
            <a:off x="25588943" y="18990931"/>
            <a:ext cx="1346844" cy="584775"/>
          </a:xfrm>
          <a:prstGeom prst="rect">
            <a:avLst/>
          </a:prstGeom>
          <a:solidFill>
            <a:srgbClr val="6AAABF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1A8684-6DBD-4F79-7057-224D3081E5C2}"/>
              </a:ext>
            </a:extLst>
          </p:cNvPr>
          <p:cNvSpPr txBox="1"/>
          <p:nvPr/>
        </p:nvSpPr>
        <p:spPr>
          <a:xfrm>
            <a:off x="40559107" y="4813516"/>
            <a:ext cx="870175" cy="584775"/>
          </a:xfrm>
          <a:prstGeom prst="rect">
            <a:avLst/>
          </a:prstGeom>
          <a:solidFill>
            <a:srgbClr val="6AAABF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TGA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78F53A-7638-68F6-73DD-86CEDF278E33}"/>
              </a:ext>
            </a:extLst>
          </p:cNvPr>
          <p:cNvSpPr txBox="1"/>
          <p:nvPr/>
        </p:nvSpPr>
        <p:spPr>
          <a:xfrm>
            <a:off x="40525914" y="10251300"/>
            <a:ext cx="846707" cy="584775"/>
          </a:xfrm>
          <a:prstGeom prst="rect">
            <a:avLst/>
          </a:prstGeom>
          <a:solidFill>
            <a:srgbClr val="6AAABF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DSC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3F91640C-3B1C-733C-AFB1-9F5AA40C4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74929" y="5153855"/>
            <a:ext cx="8925073" cy="9941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TGA, (Room Temp to ~300°C): Slight weight loss (~1–2%) observed, due to Evaporation of adsorbed water, Possible desorption of surface groups (e.g., –OH, –F).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(300–500 °C):The weight remains almost constant. Indicates high thermal stability.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(500–650 °C): an increase in weight (~4–5%) is seen, Formation of niobium oxides (e.g., </a:t>
            </a:r>
            <a:r>
              <a:rPr kumimoji="0" lang="en-US" altLang="en-US" sz="4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Nb₂O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₅)</a:t>
            </a:r>
          </a:p>
          <a:p>
            <a:pPr marL="571500" indent="-5715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DSC, Heat flow stabilizes, indicating no major phase transitions.</a:t>
            </a:r>
          </a:p>
          <a:p>
            <a:pPr marL="571500" indent="-5715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 increase in heat flow, which is due to the Minor surface rearrangements of the functional group</a:t>
            </a:r>
          </a:p>
        </p:txBody>
      </p:sp>
    </p:spTree>
    <p:extLst>
      <p:ext uri="{BB962C8B-B14F-4D97-AF65-F5344CB8AC3E}">
        <p14:creationId xmlns:p14="http://schemas.microsoft.com/office/powerpoint/2010/main" val="33702748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941</TotalTime>
  <Words>998</Words>
  <Application>Microsoft Office PowerPoint</Application>
  <PresentationFormat>Custom</PresentationFormat>
  <Paragraphs>83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Trebuchet MS</vt:lpstr>
      <vt:lpstr>Wingdings 3</vt:lpstr>
      <vt:lpstr>Facet</vt:lpstr>
      <vt:lpstr>Unicode Origin Graph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Younts</dc:creator>
  <cp:lastModifiedBy>Patel Makani, Nisha</cp:lastModifiedBy>
  <cp:revision>15</cp:revision>
  <dcterms:created xsi:type="dcterms:W3CDTF">2015-07-13T15:21:49Z</dcterms:created>
  <dcterms:modified xsi:type="dcterms:W3CDTF">2025-06-09T20:30:15Z</dcterms:modified>
</cp:coreProperties>
</file>