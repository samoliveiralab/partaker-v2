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0" r:id="rId1"/>
  </p:sldMasterIdLst>
  <p:notesMasterIdLst>
    <p:notesMasterId r:id="rId3"/>
  </p:notesMasterIdLst>
  <p:sldIdLst>
    <p:sldId id="256" r:id="rId2"/>
  </p:sldIdLst>
  <p:sldSz cx="292608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2288" userDrawn="1">
          <p15:clr>
            <a:srgbClr val="A4A3A4"/>
          </p15:clr>
        </p15:guide>
        <p15:guide id="3" orient="horz" pos="12621" userDrawn="1">
          <p15:clr>
            <a:srgbClr val="A4A3A4"/>
          </p15:clr>
        </p15:guide>
        <p15:guide id="4" pos="6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CBEF"/>
    <a:srgbClr val="D7E8F5"/>
    <a:srgbClr val="ECF4FA"/>
    <a:srgbClr val="D4E6F4"/>
    <a:srgbClr val="317CB7"/>
    <a:srgbClr val="3C83BE"/>
    <a:srgbClr val="0070C0"/>
    <a:srgbClr val="F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9" d="100"/>
          <a:sy n="29" d="100"/>
        </p:scale>
        <p:origin x="168" y="232"/>
      </p:cViewPr>
      <p:guideLst>
        <p:guide orient="horz" pos="6912"/>
        <p:guide pos="12288"/>
        <p:guide orient="horz" pos="12621"/>
        <p:guide pos="634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F9EF0D-B5DC-426A-9325-4CE28BC082D8}" type="datetimeFigureOut">
              <a:rPr lang="en-US" smtClean="0"/>
              <a:pPr/>
              <a:t>3/4/2026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4CC6C5-B7B7-4A6A-B2C4-574F07BD9A6F}" type="slidenum">
              <a:rPr lang="en-US" smtClean="0"/>
              <a:pPr/>
              <a:t>‹#›</a:t>
            </a:fld>
            <a:endParaRPr lang="en-US"/>
          </a:p>
        </p:txBody>
      </p:sp>
    </p:spTree>
    <p:extLst>
      <p:ext uri="{BB962C8B-B14F-4D97-AF65-F5344CB8AC3E}">
        <p14:creationId xmlns:p14="http://schemas.microsoft.com/office/powerpoint/2010/main" val="1344886622"/>
      </p:ext>
    </p:extLst>
  </p:cSld>
  <p:clrMap bg1="lt1" tx1="dk1" bg2="lt2" tx2="dk2" accent1="accent1" accent2="accent2" accent3="accent3" accent4="accent4" accent5="accent5" accent6="accent6" hlink="hlink" folHlink="folHlink"/>
  <p:notesStyle>
    <a:lvl1pPr marL="0" algn="l" defTabSz="715609" rtl="0" eaLnBrk="1" latinLnBrk="0" hangingPunct="1">
      <a:defRPr sz="939" kern="1200">
        <a:solidFill>
          <a:schemeClr val="tx1"/>
        </a:solidFill>
        <a:latin typeface="+mn-lt"/>
        <a:ea typeface="+mn-ea"/>
        <a:cs typeface="+mn-cs"/>
      </a:defRPr>
    </a:lvl1pPr>
    <a:lvl2pPr marL="357805" algn="l" defTabSz="715609" rtl="0" eaLnBrk="1" latinLnBrk="0" hangingPunct="1">
      <a:defRPr sz="939" kern="1200">
        <a:solidFill>
          <a:schemeClr val="tx1"/>
        </a:solidFill>
        <a:latin typeface="+mn-lt"/>
        <a:ea typeface="+mn-ea"/>
        <a:cs typeface="+mn-cs"/>
      </a:defRPr>
    </a:lvl2pPr>
    <a:lvl3pPr marL="715609" algn="l" defTabSz="715609" rtl="0" eaLnBrk="1" latinLnBrk="0" hangingPunct="1">
      <a:defRPr sz="939" kern="1200">
        <a:solidFill>
          <a:schemeClr val="tx1"/>
        </a:solidFill>
        <a:latin typeface="+mn-lt"/>
        <a:ea typeface="+mn-ea"/>
        <a:cs typeface="+mn-cs"/>
      </a:defRPr>
    </a:lvl3pPr>
    <a:lvl4pPr marL="1073414" algn="l" defTabSz="715609" rtl="0" eaLnBrk="1" latinLnBrk="0" hangingPunct="1">
      <a:defRPr sz="939" kern="1200">
        <a:solidFill>
          <a:schemeClr val="tx1"/>
        </a:solidFill>
        <a:latin typeface="+mn-lt"/>
        <a:ea typeface="+mn-ea"/>
        <a:cs typeface="+mn-cs"/>
      </a:defRPr>
    </a:lvl4pPr>
    <a:lvl5pPr marL="1431219" algn="l" defTabSz="715609" rtl="0" eaLnBrk="1" latinLnBrk="0" hangingPunct="1">
      <a:defRPr sz="939" kern="1200">
        <a:solidFill>
          <a:schemeClr val="tx1"/>
        </a:solidFill>
        <a:latin typeface="+mn-lt"/>
        <a:ea typeface="+mn-ea"/>
        <a:cs typeface="+mn-cs"/>
      </a:defRPr>
    </a:lvl5pPr>
    <a:lvl6pPr marL="1789024" algn="l" defTabSz="715609" rtl="0" eaLnBrk="1" latinLnBrk="0" hangingPunct="1">
      <a:defRPr sz="939" kern="1200">
        <a:solidFill>
          <a:schemeClr val="tx1"/>
        </a:solidFill>
        <a:latin typeface="+mn-lt"/>
        <a:ea typeface="+mn-ea"/>
        <a:cs typeface="+mn-cs"/>
      </a:defRPr>
    </a:lvl6pPr>
    <a:lvl7pPr marL="2146828" algn="l" defTabSz="715609" rtl="0" eaLnBrk="1" latinLnBrk="0" hangingPunct="1">
      <a:defRPr sz="939" kern="1200">
        <a:solidFill>
          <a:schemeClr val="tx1"/>
        </a:solidFill>
        <a:latin typeface="+mn-lt"/>
        <a:ea typeface="+mn-ea"/>
        <a:cs typeface="+mn-cs"/>
      </a:defRPr>
    </a:lvl7pPr>
    <a:lvl8pPr marL="2504633" algn="l" defTabSz="715609" rtl="0" eaLnBrk="1" latinLnBrk="0" hangingPunct="1">
      <a:defRPr sz="939" kern="1200">
        <a:solidFill>
          <a:schemeClr val="tx1"/>
        </a:solidFill>
        <a:latin typeface="+mn-lt"/>
        <a:ea typeface="+mn-ea"/>
        <a:cs typeface="+mn-cs"/>
      </a:defRPr>
    </a:lvl8pPr>
    <a:lvl9pPr marL="2862438" algn="l" defTabSz="715609" rtl="0" eaLnBrk="1" latinLnBrk="0" hangingPunct="1">
      <a:defRPr sz="93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A4CC6C5-B7B7-4A6A-B2C4-574F07BD9A6F}" type="slidenum">
              <a:rPr lang="en-US" smtClean="0"/>
              <a:pPr/>
              <a:t>1</a:t>
            </a:fld>
            <a:endParaRPr lang="en-US"/>
          </a:p>
        </p:txBody>
      </p:sp>
    </p:spTree>
    <p:extLst>
      <p:ext uri="{BB962C8B-B14F-4D97-AF65-F5344CB8AC3E}">
        <p14:creationId xmlns:p14="http://schemas.microsoft.com/office/powerpoint/2010/main" val="37095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7091" y="-27096"/>
            <a:ext cx="29348211" cy="21999792"/>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3617906" y="7694509"/>
            <a:ext cx="18645501" cy="5268166"/>
          </a:xfrm>
        </p:spPr>
        <p:txBody>
          <a:bodyPr anchor="b">
            <a:noAutofit/>
          </a:bodyPr>
          <a:lstStyle>
            <a:lvl1pPr algn="r">
              <a:defRPr sz="172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3617906" y="12962670"/>
            <a:ext cx="18645501" cy="3510077"/>
          </a:xfrm>
        </p:spPr>
        <p:txBody>
          <a:bodyPr anchor="t"/>
          <a:lstStyle>
            <a:lvl1pPr marL="0" indent="0" algn="r">
              <a:buNone/>
              <a:defRPr>
                <a:solidFill>
                  <a:schemeClr val="tx1">
                    <a:lumMod val="50000"/>
                    <a:lumOff val="50000"/>
                  </a:schemeClr>
                </a:solidFill>
              </a:defRPr>
            </a:lvl1pPr>
            <a:lvl2pPr marL="1463040" indent="0" algn="ctr">
              <a:buNone/>
              <a:defRPr>
                <a:solidFill>
                  <a:schemeClr val="tx1">
                    <a:tint val="75000"/>
                  </a:schemeClr>
                </a:solidFill>
              </a:defRPr>
            </a:lvl2pPr>
            <a:lvl3pPr marL="2926080" indent="0" algn="ctr">
              <a:buNone/>
              <a:defRPr>
                <a:solidFill>
                  <a:schemeClr val="tx1">
                    <a:tint val="75000"/>
                  </a:schemeClr>
                </a:solidFill>
              </a:defRPr>
            </a:lvl3pPr>
            <a:lvl4pPr marL="4389120" indent="0" algn="ctr">
              <a:buNone/>
              <a:defRPr>
                <a:solidFill>
                  <a:schemeClr val="tx1">
                    <a:tint val="75000"/>
                  </a:schemeClr>
                </a:solidFill>
              </a:defRPr>
            </a:lvl4pPr>
            <a:lvl5pPr marL="5852160" indent="0" algn="ctr">
              <a:buNone/>
              <a:defRPr>
                <a:solidFill>
                  <a:schemeClr val="tx1">
                    <a:tint val="75000"/>
                  </a:schemeClr>
                </a:solidFill>
              </a:defRPr>
            </a:lvl5pPr>
            <a:lvl6pPr marL="7315200" indent="0" algn="ctr">
              <a:buNone/>
              <a:defRPr>
                <a:solidFill>
                  <a:schemeClr val="tx1">
                    <a:tint val="75000"/>
                  </a:schemeClr>
                </a:solidFill>
              </a:defRPr>
            </a:lvl6pPr>
            <a:lvl7pPr marL="8778240" indent="0" algn="ctr">
              <a:buNone/>
              <a:defRPr>
                <a:solidFill>
                  <a:schemeClr val="tx1">
                    <a:tint val="75000"/>
                  </a:schemeClr>
                </a:solidFill>
              </a:defRPr>
            </a:lvl7pPr>
            <a:lvl8pPr marL="10241280" indent="0" algn="ctr">
              <a:buNone/>
              <a:defRPr>
                <a:solidFill>
                  <a:schemeClr val="tx1">
                    <a:tint val="75000"/>
                  </a:schemeClr>
                </a:solidFill>
              </a:defRPr>
            </a:lvl8pPr>
            <a:lvl9pPr marL="117043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651653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15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017976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50715" y="8642779"/>
            <a:ext cx="20312688" cy="5845059"/>
          </a:xfrm>
        </p:spPr>
        <p:txBody>
          <a:bodyPr anchor="b"/>
          <a:lstStyle>
            <a:lvl1pPr algn="l">
              <a:defRPr sz="12800" b="0" cap="none"/>
            </a:lvl1pPr>
          </a:lstStyle>
          <a:p>
            <a:r>
              <a:rPr lang="en-US"/>
              <a:t>Click to edit Master title style</a:t>
            </a:r>
            <a:endParaRPr lang="en-US" dirty="0"/>
          </a:p>
        </p:txBody>
      </p:sp>
      <p:sp>
        <p:nvSpPr>
          <p:cNvPr id="3" name="Text Placeholder 2"/>
          <p:cNvSpPr>
            <a:spLocks noGrp="1"/>
          </p:cNvSpPr>
          <p:nvPr>
            <p:ph type="body" idx="1"/>
          </p:nvPr>
        </p:nvSpPr>
        <p:spPr>
          <a:xfrm>
            <a:off x="1950715" y="14487834"/>
            <a:ext cx="20312688" cy="2753280"/>
          </a:xfrm>
        </p:spPr>
        <p:txBody>
          <a:bodyPr anchor="t"/>
          <a:lstStyle>
            <a:lvl1pPr marL="0" indent="0" algn="l">
              <a:buNone/>
              <a:defRPr sz="640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82788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50720" y="1950720"/>
            <a:ext cx="20312685" cy="422656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50722" y="6913885"/>
            <a:ext cx="9881949" cy="12418470"/>
          </a:xfrm>
        </p:spPr>
        <p:txBody>
          <a:bodyPr>
            <a:normAutofit/>
          </a:bodyPr>
          <a:lstStyle>
            <a:lvl1pPr>
              <a:defRPr sz="5760"/>
            </a:lvl1pPr>
            <a:lvl2pPr>
              <a:defRPr sz="5120"/>
            </a:lvl2pPr>
            <a:lvl3pPr>
              <a:defRPr sz="4480"/>
            </a:lvl3pPr>
            <a:lvl4pPr>
              <a:defRPr sz="3840"/>
            </a:lvl4pPr>
            <a:lvl5pPr>
              <a:defRPr sz="3840"/>
            </a:lvl5pPr>
            <a:lvl6pPr>
              <a:defRPr sz="3840"/>
            </a:lvl6pPr>
            <a:lvl7pPr>
              <a:defRPr sz="3840"/>
            </a:lvl7pPr>
            <a:lvl8pPr>
              <a:defRPr sz="3840"/>
            </a:lvl8pPr>
            <a:lvl9pPr>
              <a:defRPr sz="3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81453" y="6913889"/>
            <a:ext cx="9881952" cy="12418474"/>
          </a:xfrm>
        </p:spPr>
        <p:txBody>
          <a:bodyPr>
            <a:normAutofit/>
          </a:bodyPr>
          <a:lstStyle>
            <a:lvl1pPr>
              <a:defRPr sz="5760"/>
            </a:lvl1pPr>
            <a:lvl2pPr>
              <a:defRPr sz="5120"/>
            </a:lvl2pPr>
            <a:lvl3pPr>
              <a:defRPr sz="4480"/>
            </a:lvl3pPr>
            <a:lvl4pPr>
              <a:defRPr sz="3840"/>
            </a:lvl4pPr>
            <a:lvl5pPr>
              <a:defRPr sz="3840"/>
            </a:lvl5pPr>
            <a:lvl6pPr>
              <a:defRPr sz="3840"/>
            </a:lvl6pPr>
            <a:lvl7pPr>
              <a:defRPr sz="3840"/>
            </a:lvl7pPr>
            <a:lvl8pPr>
              <a:defRPr sz="3840"/>
            </a:lvl8pPr>
            <a:lvl9pPr>
              <a:defRPr sz="3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89F3ED-4019-40BB-88BE-9CFA21DCC591}"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95058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50718" y="1950720"/>
            <a:ext cx="20312682" cy="422656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950717" y="6915146"/>
            <a:ext cx="9890150" cy="1844038"/>
          </a:xfrm>
        </p:spPr>
        <p:txBody>
          <a:bodyPr anchor="b">
            <a:noAutofit/>
          </a:bodyPr>
          <a:lstStyle>
            <a:lvl1pPr marL="0" indent="0">
              <a:buNone/>
              <a:defRPr sz="7680" b="0"/>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1950717" y="8759189"/>
            <a:ext cx="9890150" cy="1057317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373248" y="6915146"/>
            <a:ext cx="9890150" cy="1844038"/>
          </a:xfrm>
        </p:spPr>
        <p:txBody>
          <a:bodyPr anchor="b">
            <a:noAutofit/>
          </a:bodyPr>
          <a:lstStyle>
            <a:lvl1pPr marL="0" indent="0">
              <a:buNone/>
              <a:defRPr sz="7680" b="0"/>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2373248" y="8759189"/>
            <a:ext cx="9890150" cy="1057317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89F3ED-4019-40BB-88BE-9CFA21DCC591}"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042560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50717" y="1950720"/>
            <a:ext cx="20312685" cy="42265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89F3ED-4019-40BB-88BE-9CFA21DCC591}"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51993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89F3ED-4019-40BB-88BE-9CFA21DCC591}"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1788319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50717" y="4795533"/>
            <a:ext cx="8928582" cy="4091091"/>
          </a:xfrm>
        </p:spPr>
        <p:txBody>
          <a:bodyPr anchor="b">
            <a:normAutofit/>
          </a:bodyPr>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11428082" y="1647762"/>
            <a:ext cx="10835318" cy="176845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50717" y="8886622"/>
            <a:ext cx="8928582" cy="8270237"/>
          </a:xfrm>
        </p:spPr>
        <p:txBody>
          <a:bodyPr>
            <a:normAutofit/>
          </a:bodyPr>
          <a:lstStyle>
            <a:lvl1pPr marL="0" indent="0">
              <a:buNone/>
              <a:defRPr sz="448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1191244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50717" y="15361920"/>
            <a:ext cx="20312685" cy="1813562"/>
          </a:xfrm>
        </p:spPr>
        <p:txBody>
          <a:bodyPr anchor="b">
            <a:normAutofit/>
          </a:bodyPr>
          <a:lstStyle>
            <a:lvl1pPr algn="l">
              <a:defRPr sz="76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50717" y="1950720"/>
            <a:ext cx="20312685" cy="12306298"/>
          </a:xfrm>
        </p:spPr>
        <p:txBody>
          <a:bodyPr anchor="t">
            <a:normAutofit/>
          </a:bodyPr>
          <a:lstStyle>
            <a:lvl1pPr marL="0" indent="0" algn="ctr">
              <a:buNone/>
              <a:defRPr sz="5120"/>
            </a:lvl1pPr>
            <a:lvl2pPr marL="1463040" indent="0">
              <a:buNone/>
              <a:defRPr sz="5120"/>
            </a:lvl2pPr>
            <a:lvl3pPr marL="2926080" indent="0">
              <a:buNone/>
              <a:defRPr sz="5120"/>
            </a:lvl3pPr>
            <a:lvl4pPr marL="4389120" indent="0">
              <a:buNone/>
              <a:defRPr sz="5120"/>
            </a:lvl4pPr>
            <a:lvl5pPr marL="5852160" indent="0">
              <a:buNone/>
              <a:defRPr sz="5120"/>
            </a:lvl5pPr>
            <a:lvl6pPr marL="7315200" indent="0">
              <a:buNone/>
              <a:defRPr sz="5120"/>
            </a:lvl6pPr>
            <a:lvl7pPr marL="8778240" indent="0">
              <a:buNone/>
              <a:defRPr sz="5120"/>
            </a:lvl7pPr>
            <a:lvl8pPr marL="10241280" indent="0">
              <a:buNone/>
              <a:defRPr sz="5120"/>
            </a:lvl8pPr>
            <a:lvl9pPr marL="11704320" indent="0">
              <a:buNone/>
              <a:defRPr sz="5120"/>
            </a:lvl9pPr>
          </a:lstStyle>
          <a:p>
            <a:r>
              <a:rPr lang="en-US"/>
              <a:t>Click icon to add picture</a:t>
            </a:r>
            <a:endParaRPr lang="en-US" dirty="0"/>
          </a:p>
        </p:txBody>
      </p:sp>
      <p:sp>
        <p:nvSpPr>
          <p:cNvPr id="4" name="Text Placeholder 3"/>
          <p:cNvSpPr>
            <a:spLocks noGrp="1"/>
          </p:cNvSpPr>
          <p:nvPr>
            <p:ph type="body" sz="half" idx="2"/>
          </p:nvPr>
        </p:nvSpPr>
        <p:spPr>
          <a:xfrm>
            <a:off x="1950717" y="17175482"/>
            <a:ext cx="20312685" cy="2156877"/>
          </a:xfrm>
        </p:spPr>
        <p:txBody>
          <a:bodyPr>
            <a:normAutofit/>
          </a:bodyPr>
          <a:lstStyle>
            <a:lvl1pPr marL="0" indent="0">
              <a:buNone/>
              <a:defRPr sz="3840"/>
            </a:lvl1pPr>
            <a:lvl2pPr marL="1463040" indent="0">
              <a:buNone/>
              <a:defRPr sz="3840"/>
            </a:lvl2pPr>
            <a:lvl3pPr marL="2926080" indent="0">
              <a:buNone/>
              <a:defRPr sz="3200"/>
            </a:lvl3pPr>
            <a:lvl4pPr marL="4389120" indent="0">
              <a:buNone/>
              <a:defRPr sz="2880"/>
            </a:lvl4pPr>
            <a:lvl5pPr marL="5852160" indent="0">
              <a:buNone/>
              <a:defRPr sz="2880"/>
            </a:lvl5pPr>
            <a:lvl6pPr marL="7315200" indent="0">
              <a:buNone/>
              <a:defRPr sz="2880"/>
            </a:lvl6pPr>
            <a:lvl7pPr marL="8778240" indent="0">
              <a:buNone/>
              <a:defRPr sz="2880"/>
            </a:lvl7pPr>
            <a:lvl8pPr marL="10241280" indent="0">
              <a:buNone/>
              <a:defRPr sz="2880"/>
            </a:lvl8pPr>
            <a:lvl9pPr marL="11704320" indent="0">
              <a:buNone/>
              <a:defRPr sz="288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171268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0720" y="1950720"/>
            <a:ext cx="20312685" cy="10891520"/>
          </a:xfrm>
        </p:spPr>
        <p:txBody>
          <a:bodyPr anchor="ctr">
            <a:normAutofit/>
          </a:bodyPr>
          <a:lstStyle>
            <a:lvl1pPr algn="l">
              <a:defRPr sz="14080" b="0" cap="none"/>
            </a:lvl1pPr>
          </a:lstStyle>
          <a:p>
            <a:r>
              <a:rPr lang="en-US"/>
              <a:t>Click to edit Master title style</a:t>
            </a:r>
            <a:endParaRPr lang="en-US" dirty="0"/>
          </a:p>
        </p:txBody>
      </p:sp>
      <p:sp>
        <p:nvSpPr>
          <p:cNvPr id="3" name="Text Placeholder 2"/>
          <p:cNvSpPr>
            <a:spLocks noGrp="1"/>
          </p:cNvSpPr>
          <p:nvPr>
            <p:ph type="body" idx="1"/>
          </p:nvPr>
        </p:nvSpPr>
        <p:spPr>
          <a:xfrm>
            <a:off x="1950720" y="14305280"/>
            <a:ext cx="20312685" cy="5027078"/>
          </a:xfrm>
        </p:spPr>
        <p:txBody>
          <a:bodyPr anchor="ctr">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06586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32" y="1950720"/>
            <a:ext cx="19430982" cy="9672320"/>
          </a:xfrm>
        </p:spPr>
        <p:txBody>
          <a:bodyPr anchor="ctr">
            <a:normAutofit/>
          </a:bodyPr>
          <a:lstStyle>
            <a:lvl1pPr algn="l">
              <a:defRPr sz="140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3523437" y="11623040"/>
            <a:ext cx="17343373" cy="1219200"/>
          </a:xfrm>
        </p:spPr>
        <p:txBody>
          <a:bodyPr anchor="ctr">
            <a:noAutofit/>
          </a:bodyPr>
          <a:lstStyle>
            <a:lvl1pPr marL="0" indent="0">
              <a:buFontTx/>
              <a:buNone/>
              <a:defRPr sz="5120">
                <a:solidFill>
                  <a:schemeClr val="tx1">
                    <a:lumMod val="50000"/>
                    <a:lumOff val="50000"/>
                  </a:schemeClr>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1950715" y="14305280"/>
            <a:ext cx="20312688" cy="5027078"/>
          </a:xfrm>
        </p:spPr>
        <p:txBody>
          <a:bodyPr anchor="ctr">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1544677" y="2529210"/>
            <a:ext cx="1463421" cy="1871283"/>
          </a:xfrm>
          <a:prstGeom prst="rect">
            <a:avLst/>
          </a:prstGeom>
        </p:spPr>
        <p:txBody>
          <a:bodyPr vert="horz" lIns="292608" tIns="146304" rIns="292608" bIns="146304" rtlCol="0" anchor="ctr">
            <a:noAutofit/>
          </a:bodyPr>
          <a:lstStyle/>
          <a:p>
            <a:pPr lvl="0"/>
            <a:r>
              <a:rPr lang="en-US" sz="25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21592638" y="9236979"/>
            <a:ext cx="1463421" cy="1871283"/>
          </a:xfrm>
          <a:prstGeom prst="rect">
            <a:avLst/>
          </a:prstGeom>
        </p:spPr>
        <p:txBody>
          <a:bodyPr vert="horz" lIns="292608" tIns="146304" rIns="292608" bIns="146304" rtlCol="0" anchor="ctr">
            <a:noAutofit/>
          </a:bodyPr>
          <a:lstStyle/>
          <a:p>
            <a:pPr lvl="0"/>
            <a:r>
              <a:rPr lang="en-US" sz="25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24912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50715" y="6182362"/>
            <a:ext cx="20312688" cy="8305472"/>
          </a:xfrm>
        </p:spPr>
        <p:txBody>
          <a:bodyPr anchor="b">
            <a:normAutofit/>
          </a:bodyPr>
          <a:lstStyle>
            <a:lvl1pPr algn="l">
              <a:defRPr sz="14080" b="0" cap="none"/>
            </a:lvl1pPr>
          </a:lstStyle>
          <a:p>
            <a:r>
              <a:rPr lang="en-US"/>
              <a:t>Click to edit Master title style</a:t>
            </a:r>
            <a:endParaRPr lang="en-US" dirty="0"/>
          </a:p>
        </p:txBody>
      </p:sp>
      <p:sp>
        <p:nvSpPr>
          <p:cNvPr id="3" name="Text Placeholder 2"/>
          <p:cNvSpPr>
            <a:spLocks noGrp="1"/>
          </p:cNvSpPr>
          <p:nvPr>
            <p:ph type="body" idx="1"/>
          </p:nvPr>
        </p:nvSpPr>
        <p:spPr>
          <a:xfrm>
            <a:off x="1950715" y="14487834"/>
            <a:ext cx="20312688" cy="4844525"/>
          </a:xfrm>
        </p:spPr>
        <p:txBody>
          <a:bodyPr anchor="t">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655152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479632" y="1950720"/>
            <a:ext cx="19430982" cy="9672320"/>
          </a:xfrm>
        </p:spPr>
        <p:txBody>
          <a:bodyPr anchor="ctr">
            <a:normAutofit/>
          </a:bodyPr>
          <a:lstStyle>
            <a:lvl1pPr algn="l">
              <a:defRPr sz="140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950711" y="12842240"/>
            <a:ext cx="20312691" cy="1645594"/>
          </a:xfrm>
        </p:spPr>
        <p:txBody>
          <a:bodyPr anchor="b">
            <a:noAutofit/>
          </a:bodyPr>
          <a:lstStyle>
            <a:lvl1pPr marL="0" indent="0">
              <a:buFontTx/>
              <a:buNone/>
              <a:defRPr sz="7680">
                <a:solidFill>
                  <a:schemeClr val="tx1">
                    <a:lumMod val="75000"/>
                    <a:lumOff val="25000"/>
                  </a:schemeClr>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1950715" y="14487834"/>
            <a:ext cx="20312688" cy="4844525"/>
          </a:xfrm>
        </p:spPr>
        <p:txBody>
          <a:bodyPr anchor="t">
            <a:normAutofit/>
          </a:bodyPr>
          <a:lstStyle>
            <a:lvl1pPr marL="0" indent="0" algn="l">
              <a:buNone/>
              <a:defRPr sz="576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1544677" y="2529210"/>
            <a:ext cx="1463421" cy="1871283"/>
          </a:xfrm>
          <a:prstGeom prst="rect">
            <a:avLst/>
          </a:prstGeom>
        </p:spPr>
        <p:txBody>
          <a:bodyPr vert="horz" lIns="292608" tIns="146304" rIns="292608" bIns="146304" rtlCol="0" anchor="ctr">
            <a:noAutofit/>
          </a:bodyPr>
          <a:lstStyle/>
          <a:p>
            <a:pPr lvl="0"/>
            <a:r>
              <a:rPr lang="en-US" sz="25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21592638" y="9236979"/>
            <a:ext cx="1463421" cy="1871283"/>
          </a:xfrm>
          <a:prstGeom prst="rect">
            <a:avLst/>
          </a:prstGeom>
        </p:spPr>
        <p:txBody>
          <a:bodyPr vert="horz" lIns="292608" tIns="146304" rIns="292608" bIns="146304" rtlCol="0" anchor="ctr">
            <a:noAutofit/>
          </a:bodyPr>
          <a:lstStyle/>
          <a:p>
            <a:pPr lvl="0"/>
            <a:r>
              <a:rPr lang="en-US" sz="25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322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70715" y="1950720"/>
            <a:ext cx="20292688" cy="9672320"/>
          </a:xfrm>
        </p:spPr>
        <p:txBody>
          <a:bodyPr anchor="ctr">
            <a:normAutofit/>
          </a:bodyPr>
          <a:lstStyle>
            <a:lvl1pPr algn="l">
              <a:defRPr sz="140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950711" y="12842240"/>
            <a:ext cx="20312691" cy="1645594"/>
          </a:xfrm>
        </p:spPr>
        <p:txBody>
          <a:bodyPr anchor="b">
            <a:noAutofit/>
          </a:bodyPr>
          <a:lstStyle>
            <a:lvl1pPr marL="0" indent="0">
              <a:buFontTx/>
              <a:buNone/>
              <a:defRPr sz="7680">
                <a:solidFill>
                  <a:schemeClr val="accent1"/>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1950715" y="14487834"/>
            <a:ext cx="20312688" cy="4844525"/>
          </a:xfrm>
        </p:spPr>
        <p:txBody>
          <a:bodyPr anchor="t">
            <a:normAutofit/>
          </a:bodyPr>
          <a:lstStyle>
            <a:lvl1pPr marL="0" indent="0" algn="l">
              <a:buNone/>
              <a:defRPr sz="576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110165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29105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127399" y="1950722"/>
            <a:ext cx="3132198" cy="16804643"/>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50717" y="1950722"/>
            <a:ext cx="16624083" cy="168046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F3ED-4019-40BB-88BE-9CFA21DCC591}"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87753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27093" y="-27096"/>
            <a:ext cx="29348214" cy="21999792"/>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1950718" y="1950720"/>
            <a:ext cx="20312682" cy="42265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50717" y="6913889"/>
            <a:ext cx="20312685" cy="124184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296826" y="19332363"/>
            <a:ext cx="2189222" cy="1168400"/>
          </a:xfrm>
          <a:prstGeom prst="rect">
            <a:avLst/>
          </a:prstGeom>
        </p:spPr>
        <p:txBody>
          <a:bodyPr vert="horz" lIns="91440" tIns="45720" rIns="91440" bIns="45720" rtlCol="0" anchor="ctr"/>
          <a:lstStyle>
            <a:lvl1pPr algn="r">
              <a:defRPr sz="2880">
                <a:solidFill>
                  <a:schemeClr val="tx1">
                    <a:tint val="75000"/>
                  </a:schemeClr>
                </a:solidFill>
              </a:defRPr>
            </a:lvl1pPr>
          </a:lstStyle>
          <a:p>
            <a:fld id="{3F89F3ED-4019-40BB-88BE-9CFA21DCC591}" type="datetimeFigureOut">
              <a:rPr lang="en-US" smtClean="0"/>
              <a:pPr/>
              <a:t>3/4/2026</a:t>
            </a:fld>
            <a:endParaRPr lang="en-US"/>
          </a:p>
        </p:txBody>
      </p:sp>
      <p:sp>
        <p:nvSpPr>
          <p:cNvPr id="5" name="Footer Placeholder 4"/>
          <p:cNvSpPr>
            <a:spLocks noGrp="1"/>
          </p:cNvSpPr>
          <p:nvPr>
            <p:ph type="ftr" sz="quarter" idx="3"/>
          </p:nvPr>
        </p:nvSpPr>
        <p:spPr>
          <a:xfrm>
            <a:off x="1950718" y="19332363"/>
            <a:ext cx="14793514" cy="1168400"/>
          </a:xfrm>
          <a:prstGeom prst="rect">
            <a:avLst/>
          </a:prstGeom>
        </p:spPr>
        <p:txBody>
          <a:bodyPr vert="horz" lIns="91440" tIns="45720" rIns="91440" bIns="45720" rtlCol="0" anchor="ctr"/>
          <a:lstStyle>
            <a:lvl1pPr algn="l">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622963" y="19332363"/>
            <a:ext cx="1640442" cy="1168400"/>
          </a:xfrm>
          <a:prstGeom prst="rect">
            <a:avLst/>
          </a:prstGeom>
        </p:spPr>
        <p:txBody>
          <a:bodyPr vert="horz" lIns="91440" tIns="45720" rIns="91440" bIns="45720" rtlCol="0" anchor="ctr"/>
          <a:lstStyle>
            <a:lvl1pPr algn="r">
              <a:defRPr sz="2880">
                <a:solidFill>
                  <a:schemeClr val="accent1"/>
                </a:solidFill>
              </a:defRPr>
            </a:lvl1pPr>
          </a:lstStyle>
          <a:p>
            <a:fld id="{5F26EABE-744A-4AE3-B47C-B63E269CDEC1}" type="slidenum">
              <a:rPr lang="en-US" smtClean="0"/>
              <a:pPr/>
              <a:t>‹#›</a:t>
            </a:fld>
            <a:endParaRPr lang="en-US"/>
          </a:p>
        </p:txBody>
      </p:sp>
    </p:spTree>
    <p:extLst>
      <p:ext uri="{BB962C8B-B14F-4D97-AF65-F5344CB8AC3E}">
        <p14:creationId xmlns:p14="http://schemas.microsoft.com/office/powerpoint/2010/main" val="3599235309"/>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 id="2147483905" r:id="rId15"/>
    <p:sldLayoutId id="2147483906" r:id="rId16"/>
  </p:sldLayoutIdLst>
  <p:txStyles>
    <p:titleStyle>
      <a:lvl1pPr algn="l" defTabSz="1463040" rtl="0" eaLnBrk="1" latinLnBrk="0" hangingPunct="1">
        <a:spcBef>
          <a:spcPct val="0"/>
        </a:spcBef>
        <a:buNone/>
        <a:defRPr sz="115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097280" indent="-1097280" algn="l" defTabSz="1463040" rtl="0" eaLnBrk="1" latinLnBrk="0" hangingPunct="1">
        <a:spcBef>
          <a:spcPts val="32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1pPr>
      <a:lvl2pPr marL="2377440" indent="-914400" algn="l" defTabSz="1463040" rtl="0" eaLnBrk="1" latinLnBrk="0" hangingPunct="1">
        <a:spcBef>
          <a:spcPts val="3200"/>
        </a:spcBef>
        <a:spcAft>
          <a:spcPts val="0"/>
        </a:spcAft>
        <a:buClr>
          <a:schemeClr val="accent1"/>
        </a:buClr>
        <a:buSzPct val="80000"/>
        <a:buFont typeface="Wingdings 3" charset="2"/>
        <a:buChar char=""/>
        <a:defRPr sz="5120" kern="1200">
          <a:solidFill>
            <a:schemeClr val="tx1">
              <a:lumMod val="75000"/>
              <a:lumOff val="25000"/>
            </a:schemeClr>
          </a:solidFill>
          <a:latin typeface="+mn-lt"/>
          <a:ea typeface="+mn-ea"/>
          <a:cs typeface="+mn-cs"/>
        </a:defRPr>
      </a:lvl2pPr>
      <a:lvl3pPr marL="3657600" indent="-731520" algn="l" defTabSz="1463040" rtl="0" eaLnBrk="1" latinLnBrk="0" hangingPunct="1">
        <a:spcBef>
          <a:spcPts val="3200"/>
        </a:spcBef>
        <a:spcAft>
          <a:spcPts val="0"/>
        </a:spcAft>
        <a:buClr>
          <a:schemeClr val="accent1"/>
        </a:buClr>
        <a:buSzPct val="80000"/>
        <a:buFont typeface="Wingdings 3" charset="2"/>
        <a:buChar char=""/>
        <a:defRPr sz="4480" kern="1200">
          <a:solidFill>
            <a:schemeClr val="tx1">
              <a:lumMod val="75000"/>
              <a:lumOff val="25000"/>
            </a:schemeClr>
          </a:solidFill>
          <a:latin typeface="+mn-lt"/>
          <a:ea typeface="+mn-ea"/>
          <a:cs typeface="+mn-cs"/>
        </a:defRPr>
      </a:lvl3pPr>
      <a:lvl4pPr marL="512064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4pPr>
      <a:lvl5pPr marL="658368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5pPr>
      <a:lvl6pPr marL="804672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6pPr>
      <a:lvl7pPr marL="950976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7pPr>
      <a:lvl8pPr marL="1097280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8pPr>
      <a:lvl9pPr marL="1243584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9pPr>
    </p:bodyStyle>
    <p:otherStyle>
      <a:defPPr>
        <a:defRPr lang="en-US"/>
      </a:defPPr>
      <a:lvl1pPr marL="0" algn="l" defTabSz="1463040" rtl="0" eaLnBrk="1" latinLnBrk="0" hangingPunct="1">
        <a:defRPr sz="5760" kern="1200">
          <a:solidFill>
            <a:schemeClr val="tx1"/>
          </a:solidFill>
          <a:latin typeface="+mn-lt"/>
          <a:ea typeface="+mn-ea"/>
          <a:cs typeface="+mn-cs"/>
        </a:defRPr>
      </a:lvl1pPr>
      <a:lvl2pPr marL="1463040" algn="l" defTabSz="1463040" rtl="0" eaLnBrk="1" latinLnBrk="0" hangingPunct="1">
        <a:defRPr sz="5760" kern="1200">
          <a:solidFill>
            <a:schemeClr val="tx1"/>
          </a:solidFill>
          <a:latin typeface="+mn-lt"/>
          <a:ea typeface="+mn-ea"/>
          <a:cs typeface="+mn-cs"/>
        </a:defRPr>
      </a:lvl2pPr>
      <a:lvl3pPr marL="2926080" algn="l" defTabSz="1463040" rtl="0" eaLnBrk="1" latinLnBrk="0" hangingPunct="1">
        <a:defRPr sz="5760" kern="1200">
          <a:solidFill>
            <a:schemeClr val="tx1"/>
          </a:solidFill>
          <a:latin typeface="+mn-lt"/>
          <a:ea typeface="+mn-ea"/>
          <a:cs typeface="+mn-cs"/>
        </a:defRPr>
      </a:lvl3pPr>
      <a:lvl4pPr marL="4389120" algn="l" defTabSz="1463040" rtl="0" eaLnBrk="1" latinLnBrk="0" hangingPunct="1">
        <a:defRPr sz="5760" kern="1200">
          <a:solidFill>
            <a:schemeClr val="tx1"/>
          </a:solidFill>
          <a:latin typeface="+mn-lt"/>
          <a:ea typeface="+mn-ea"/>
          <a:cs typeface="+mn-cs"/>
        </a:defRPr>
      </a:lvl4pPr>
      <a:lvl5pPr marL="5852160" algn="l" defTabSz="1463040" rtl="0" eaLnBrk="1" latinLnBrk="0" hangingPunct="1">
        <a:defRPr sz="5760" kern="1200">
          <a:solidFill>
            <a:schemeClr val="tx1"/>
          </a:solidFill>
          <a:latin typeface="+mn-lt"/>
          <a:ea typeface="+mn-ea"/>
          <a:cs typeface="+mn-cs"/>
        </a:defRPr>
      </a:lvl5pPr>
      <a:lvl6pPr marL="7315200" algn="l" defTabSz="1463040" rtl="0" eaLnBrk="1" latinLnBrk="0" hangingPunct="1">
        <a:defRPr sz="5760" kern="1200">
          <a:solidFill>
            <a:schemeClr val="tx1"/>
          </a:solidFill>
          <a:latin typeface="+mn-lt"/>
          <a:ea typeface="+mn-ea"/>
          <a:cs typeface="+mn-cs"/>
        </a:defRPr>
      </a:lvl6pPr>
      <a:lvl7pPr marL="8778240" algn="l" defTabSz="1463040" rtl="0" eaLnBrk="1" latinLnBrk="0" hangingPunct="1">
        <a:defRPr sz="5760" kern="1200">
          <a:solidFill>
            <a:schemeClr val="tx1"/>
          </a:solidFill>
          <a:latin typeface="+mn-lt"/>
          <a:ea typeface="+mn-ea"/>
          <a:cs typeface="+mn-cs"/>
        </a:defRPr>
      </a:lvl7pPr>
      <a:lvl8pPr marL="10241280" algn="l" defTabSz="1463040" rtl="0" eaLnBrk="1" latinLnBrk="0" hangingPunct="1">
        <a:defRPr sz="5760" kern="1200">
          <a:solidFill>
            <a:schemeClr val="tx1"/>
          </a:solidFill>
          <a:latin typeface="+mn-lt"/>
          <a:ea typeface="+mn-ea"/>
          <a:cs typeface="+mn-cs"/>
        </a:defRPr>
      </a:lvl8pPr>
      <a:lvl9pPr marL="11704320" algn="l" defTabSz="146304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13"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5.tiff"/><Relationship Id="rId12" Type="http://schemas.openxmlformats.org/officeDocument/2006/relationships/image" Target="../media/image10.jpeg"/><Relationship Id="rId17" Type="http://schemas.openxmlformats.org/officeDocument/2006/relationships/hyperlink" Target="mailto:bgautam@uncfsu.edu" TargetMode="External"/><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jpeg"/><Relationship Id="rId15" Type="http://schemas.openxmlformats.org/officeDocument/2006/relationships/image" Target="../media/image1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D7E8F5"/>
        </a:solidFill>
        <a:effectLst/>
      </p:bgPr>
    </p:bg>
    <p:spTree>
      <p:nvGrpSpPr>
        <p:cNvPr id="1" name=""/>
        <p:cNvGrpSpPr/>
        <p:nvPr/>
      </p:nvGrpSpPr>
      <p:grpSpPr>
        <a:xfrm>
          <a:off x="0" y="0"/>
          <a:ext cx="0" cy="0"/>
          <a:chOff x="0" y="0"/>
          <a:chExt cx="0" cy="0"/>
        </a:xfrm>
      </p:grpSpPr>
      <p:sp>
        <p:nvSpPr>
          <p:cNvPr id="99" name="Rectangle 98">
            <a:extLst>
              <a:ext uri="{FF2B5EF4-FFF2-40B4-BE49-F238E27FC236}">
                <a16:creationId xmlns:a16="http://schemas.microsoft.com/office/drawing/2014/main" id="{37CA7679-5E40-ECEC-A36C-CA1070F76174}"/>
              </a:ext>
            </a:extLst>
          </p:cNvPr>
          <p:cNvSpPr/>
          <p:nvPr/>
        </p:nvSpPr>
        <p:spPr>
          <a:xfrm>
            <a:off x="21102062" y="9882955"/>
            <a:ext cx="7585140" cy="3016658"/>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dirty="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dirty="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B49DEABF-281F-0CA5-3076-9DA2C51B9851}"/>
              </a:ext>
            </a:extLst>
          </p:cNvPr>
          <p:cNvSpPr/>
          <p:nvPr/>
        </p:nvSpPr>
        <p:spPr>
          <a:xfrm>
            <a:off x="666827" y="13141644"/>
            <a:ext cx="9071236" cy="85093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430C57F5-AC6D-9661-1D62-092D4F57069B}"/>
              </a:ext>
            </a:extLst>
          </p:cNvPr>
          <p:cNvSpPr/>
          <p:nvPr/>
        </p:nvSpPr>
        <p:spPr>
          <a:xfrm>
            <a:off x="10288404" y="4102423"/>
            <a:ext cx="10181570" cy="1754853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4" name="TextBox 3"/>
          <p:cNvSpPr txBox="1"/>
          <p:nvPr/>
        </p:nvSpPr>
        <p:spPr>
          <a:xfrm>
            <a:off x="0" y="294637"/>
            <a:ext cx="29260800" cy="2404184"/>
          </a:xfrm>
          <a:prstGeom prst="rect">
            <a:avLst/>
          </a:prstGeom>
          <a:gradFill>
            <a:gsLst>
              <a:gs pos="0">
                <a:srgbClr val="3C83BE"/>
              </a:gs>
              <a:gs pos="96000">
                <a:srgbClr val="317CB7"/>
              </a:gs>
            </a:gsLst>
          </a:gradFill>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endParaRPr lang="en-US" sz="1000" b="1" dirty="0">
              <a:solidFill>
                <a:schemeClr val="bg1"/>
              </a:solidFill>
              <a:latin typeface="Georgia" panose="02040502050405020303" pitchFamily="18" charset="0"/>
              <a:ea typeface="Verdana" panose="020B0604030504040204" pitchFamily="34" charset="0"/>
              <a:cs typeface="Helvetica" panose="020B0604020202020204" pitchFamily="34" charset="0"/>
            </a:endParaRPr>
          </a:p>
          <a:p>
            <a:pPr algn="ctr"/>
            <a:r>
              <a:rPr lang="en-US" sz="5000" b="1" dirty="0">
                <a:solidFill>
                  <a:schemeClr val="bg1"/>
                </a:solidFill>
                <a:latin typeface="Georgia" panose="02040502050405020303" pitchFamily="18" charset="0"/>
                <a:ea typeface="Verdana" panose="020B0604030504040204" pitchFamily="34" charset="0"/>
                <a:cs typeface="Helvetica" panose="020B0604020202020204" pitchFamily="34" charset="0"/>
              </a:rPr>
              <a:t>Structural and Compositional Properties of Ta₄C₃Tₓ MXene</a:t>
            </a:r>
            <a:r>
              <a:rPr lang="en-US" sz="4667" b="1" dirty="0">
                <a:solidFill>
                  <a:schemeClr val="bg1"/>
                </a:solidFill>
                <a:latin typeface="Georgia" panose="02040502050405020303" pitchFamily="18" charset="0"/>
                <a:ea typeface="Verdana" panose="020B0604030504040204" pitchFamily="34" charset="0"/>
                <a:cs typeface="Helvetica" panose="020B0604020202020204" pitchFamily="34" charset="0"/>
              </a:rPr>
              <a:t> </a:t>
            </a:r>
            <a:endParaRPr lang="en-US" sz="1867" dirty="0">
              <a:solidFill>
                <a:schemeClr val="bg1"/>
              </a:solidFill>
              <a:latin typeface="Georgia" panose="02040502050405020303" pitchFamily="18" charset="0"/>
              <a:ea typeface="Verdana" panose="020B0604030504040204" pitchFamily="34" charset="0"/>
              <a:cs typeface="Helvetica" panose="020B0604020202020204" pitchFamily="34" charset="0"/>
            </a:endParaRPr>
          </a:p>
          <a:p>
            <a:pPr algn="ctr"/>
            <a:endParaRPr lang="en-US" sz="1867" dirty="0">
              <a:solidFill>
                <a:schemeClr val="bg1"/>
              </a:solidFill>
              <a:latin typeface="Georgia" panose="02040502050405020303" pitchFamily="18" charset="0"/>
              <a:ea typeface="Verdana" panose="020B0604030504040204" pitchFamily="34" charset="0"/>
              <a:cs typeface="Helvetica" panose="020B0604020202020204" pitchFamily="34" charset="0"/>
            </a:endParaRPr>
          </a:p>
          <a:p>
            <a:pPr algn="ctr"/>
            <a:r>
              <a:rPr lang="en-US" dirty="0">
                <a:solidFill>
                  <a:schemeClr val="bg1"/>
                </a:solidFill>
                <a:latin typeface="Georgia" panose="02040502050405020303" pitchFamily="18" charset="0"/>
                <a:ea typeface="Verdana" panose="020B0604030504040204" pitchFamily="34" charset="0"/>
                <a:cs typeface="Helvetica" panose="020B0604020202020204" pitchFamily="34" charset="0"/>
              </a:rPr>
              <a:t>Jianna Evans, Safal Ghimire, </a:t>
            </a:r>
            <a:r>
              <a:rPr lang="en-US" dirty="0" err="1">
                <a:solidFill>
                  <a:schemeClr val="bg1"/>
                </a:solidFill>
                <a:latin typeface="Georgia" panose="02040502050405020303" pitchFamily="18" charset="0"/>
                <a:ea typeface="Verdana" panose="020B0604030504040204" pitchFamily="34" charset="0"/>
                <a:cs typeface="Helvetica" panose="020B0604020202020204" pitchFamily="34" charset="0"/>
              </a:rPr>
              <a:t>Peshal</a:t>
            </a:r>
            <a:r>
              <a:rPr lang="en-US" dirty="0">
                <a:solidFill>
                  <a:schemeClr val="bg1"/>
                </a:solidFill>
                <a:latin typeface="Georgia" panose="02040502050405020303" pitchFamily="18" charset="0"/>
                <a:ea typeface="Verdana" panose="020B0604030504040204" pitchFamily="34" charset="0"/>
                <a:cs typeface="Helvetica" panose="020B0604020202020204" pitchFamily="34" charset="0"/>
              </a:rPr>
              <a:t> Karki, </a:t>
            </a:r>
            <a:r>
              <a:rPr lang="en-US" dirty="0">
                <a:latin typeface="Georgia" panose="02040502050405020303" pitchFamily="18" charset="0"/>
              </a:rPr>
              <a:t>Nisha Hiralal Patel Makani,</a:t>
            </a:r>
            <a:r>
              <a:rPr lang="en-US" dirty="0">
                <a:solidFill>
                  <a:schemeClr val="bg1"/>
                </a:solidFill>
                <a:latin typeface="Georgia" panose="02040502050405020303" pitchFamily="18" charset="0"/>
                <a:ea typeface="Verdana" panose="020B0604030504040204" pitchFamily="34" charset="0"/>
                <a:cs typeface="Helvetica" panose="020B0604020202020204" pitchFamily="34" charset="0"/>
              </a:rPr>
              <a:t> Bhoj Gautam</a:t>
            </a:r>
            <a:endParaRPr lang="en-US" baseline="30000" dirty="0">
              <a:solidFill>
                <a:schemeClr val="bg1"/>
              </a:solidFill>
              <a:latin typeface="Georgia" panose="02040502050405020303" pitchFamily="18" charset="0"/>
              <a:ea typeface="Verdana" panose="020B0604030504040204" pitchFamily="34" charset="0"/>
              <a:cs typeface="Helvetica" panose="020B0604020202020204" pitchFamily="34" charset="0"/>
            </a:endParaRPr>
          </a:p>
          <a:p>
            <a:pPr algn="ctr"/>
            <a:r>
              <a:rPr lang="en-US" dirty="0">
                <a:solidFill>
                  <a:schemeClr val="bg1"/>
                </a:solidFill>
                <a:latin typeface="Georgia" panose="02040502050405020303" pitchFamily="18" charset="0"/>
                <a:ea typeface="Verdana" panose="020B0604030504040204" pitchFamily="34" charset="0"/>
                <a:cs typeface="Helvetica" panose="020B0604020202020204" pitchFamily="34" charset="0"/>
              </a:rPr>
              <a:t>Department of Chemistry, Physics and Materials Science, Fayetteville State University, Fayetteville, North Carolina 28301, United States</a:t>
            </a:r>
          </a:p>
          <a:p>
            <a:pPr algn="ctr"/>
            <a:endParaRPr lang="en-US" sz="1778" dirty="0">
              <a:latin typeface="Georgia" panose="02040502050405020303" pitchFamily="18" charset="0"/>
              <a:ea typeface="Verdana" panose="020B0604030504040204" pitchFamily="34" charset="0"/>
              <a:cs typeface="Helvetica" panose="020B0604020202020204" pitchFamily="34" charset="0"/>
            </a:endParaRPr>
          </a:p>
          <a:p>
            <a:pPr algn="ctr"/>
            <a:endParaRPr lang="en-US" sz="1778" dirty="0">
              <a:latin typeface="Georgia" panose="02040502050405020303" pitchFamily="18" charset="0"/>
              <a:ea typeface="Verdana" panose="020B0604030504040204" pitchFamily="34" charset="0"/>
              <a:cs typeface="Helvetica" panose="020B0604020202020204" pitchFamily="34" charset="0"/>
            </a:endParaRPr>
          </a:p>
        </p:txBody>
      </p:sp>
      <p:sp>
        <p:nvSpPr>
          <p:cNvPr id="23" name="Rectangle 22"/>
          <p:cNvSpPr/>
          <p:nvPr/>
        </p:nvSpPr>
        <p:spPr>
          <a:xfrm>
            <a:off x="21105602" y="16442614"/>
            <a:ext cx="7592901" cy="2727527"/>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853" dirty="0"/>
          </a:p>
        </p:txBody>
      </p:sp>
      <p:sp>
        <p:nvSpPr>
          <p:cNvPr id="34" name="Oval 33"/>
          <p:cNvSpPr/>
          <p:nvPr/>
        </p:nvSpPr>
        <p:spPr>
          <a:xfrm>
            <a:off x="-864212" y="10779482"/>
            <a:ext cx="125251" cy="8872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3"/>
          </a:p>
        </p:txBody>
      </p:sp>
      <p:sp>
        <p:nvSpPr>
          <p:cNvPr id="2" name="TextBox 1"/>
          <p:cNvSpPr txBox="1"/>
          <p:nvPr/>
        </p:nvSpPr>
        <p:spPr>
          <a:xfrm>
            <a:off x="21528312" y="16644401"/>
            <a:ext cx="6718375" cy="2031325"/>
          </a:xfrm>
          <a:prstGeom prst="rect">
            <a:avLst/>
          </a:prstGeom>
          <a:noFill/>
        </p:spPr>
        <p:txBody>
          <a:bodyPr wrap="square" rtlCol="0">
            <a:spAutoFit/>
          </a:bodyPr>
          <a:lstStyle/>
          <a:p>
            <a:pPr marL="228635" indent="-228635" algn="just">
              <a:buFont typeface="+mj-lt"/>
              <a:buAutoNum type="arabicPeriod"/>
            </a:pPr>
            <a:r>
              <a:rPr lang="en-US" dirty="0">
                <a:latin typeface="Times New Roman" panose="02020603050405020304" pitchFamily="18" charset="0"/>
                <a:cs typeface="Times New Roman" panose="02020603050405020304" pitchFamily="18" charset="0"/>
              </a:rPr>
              <a:t> Stavrou, Michalis, et al, </a:t>
            </a:r>
            <a:r>
              <a:rPr lang="en-US" i="1" dirty="0">
                <a:latin typeface="Times New Roman" panose="02020603050405020304" pitchFamily="18" charset="0"/>
                <a:cs typeface="Times New Roman" panose="02020603050405020304" pitchFamily="18" charset="0"/>
              </a:rPr>
              <a:t>Adv. Opt. Mat</a:t>
            </a:r>
            <a:r>
              <a:rPr lang="nl-NL" i="1" dirty="0">
                <a:latin typeface="Times New Roman" panose="02020603050405020304" pitchFamily="18" charset="0"/>
                <a:cs typeface="Times New Roman" panose="02020603050405020304" pitchFamily="18" charset="0"/>
              </a:rPr>
              <a:t>. </a:t>
            </a:r>
            <a:r>
              <a:rPr lang="nl-NL" dirty="0">
                <a:latin typeface="Times New Roman" panose="02020603050405020304" pitchFamily="18" charset="0"/>
                <a:cs typeface="Times New Roman" panose="02020603050405020304" pitchFamily="18" charset="0"/>
              </a:rPr>
              <a:t>2025, 13, </a:t>
            </a:r>
            <a:r>
              <a:rPr lang="en-US" dirty="0">
                <a:latin typeface="Times New Roman" panose="02020603050405020304" pitchFamily="18" charset="0"/>
                <a:cs typeface="Times New Roman" panose="02020603050405020304" pitchFamily="18" charset="0"/>
              </a:rPr>
              <a:t>2403277</a:t>
            </a:r>
            <a:endParaRPr lang="nl-NL" dirty="0">
              <a:latin typeface="Times New Roman" panose="02020603050405020304" pitchFamily="18" charset="0"/>
              <a:cs typeface="Times New Roman" panose="02020603050405020304" pitchFamily="18" charset="0"/>
            </a:endParaRPr>
          </a:p>
          <a:p>
            <a:pPr marL="228635" indent="-228635" algn="just">
              <a:buFont typeface="+mj-lt"/>
              <a:buAutoNum type="arabicPeriod"/>
            </a:pPr>
            <a:r>
              <a:rPr lang="it-IT" dirty="0">
                <a:latin typeface="Times New Roman" panose="02020603050405020304" pitchFamily="18" charset="0"/>
                <a:cs typeface="Times New Roman" panose="02020603050405020304" pitchFamily="18" charset="0"/>
              </a:rPr>
              <a:t>L. Dong, H. Chu, Y. Li, et al, </a:t>
            </a:r>
            <a:r>
              <a:rPr lang="it-IT" i="1" dirty="0">
                <a:latin typeface="Times New Roman" panose="02020603050405020304" pitchFamily="18" charset="0"/>
                <a:cs typeface="Times New Roman" panose="02020603050405020304" pitchFamily="18" charset="0"/>
              </a:rPr>
              <a:t>Appl. Mater. Today</a:t>
            </a:r>
            <a:r>
              <a:rPr lang="it-IT" dirty="0">
                <a:latin typeface="Times New Roman" panose="02020603050405020304" pitchFamily="18" charset="0"/>
                <a:cs typeface="Times New Roman" panose="02020603050405020304" pitchFamily="18" charset="0"/>
              </a:rPr>
              <a:t> 2022, 26, 101341</a:t>
            </a:r>
          </a:p>
          <a:p>
            <a:pPr marL="228635" indent="-228635" algn="just">
              <a:buFont typeface="+mj-lt"/>
              <a:buAutoNum type="arabicPeriod"/>
            </a:pPr>
            <a:r>
              <a:rPr lang="en-US" dirty="0">
                <a:latin typeface="Times New Roman" panose="02020603050405020304" pitchFamily="18" charset="0"/>
                <a:cs typeface="Times New Roman" panose="02020603050405020304" pitchFamily="18" charset="0"/>
              </a:rPr>
              <a:t>L. Lan, Z. Ni, et al, </a:t>
            </a:r>
            <a:r>
              <a:rPr lang="en-US" i="1" dirty="0">
                <a:latin typeface="Times New Roman" panose="02020603050405020304" pitchFamily="18" charset="0"/>
                <a:cs typeface="Times New Roman" panose="02020603050405020304" pitchFamily="18" charset="0"/>
              </a:rPr>
              <a:t>Langmuir</a:t>
            </a:r>
            <a:r>
              <a:rPr lang="en-US" dirty="0">
                <a:latin typeface="Times New Roman" panose="02020603050405020304" pitchFamily="18" charset="0"/>
                <a:cs typeface="Times New Roman" panose="02020603050405020304" pitchFamily="18" charset="0"/>
              </a:rPr>
              <a:t> 2024, 40, 20945</a:t>
            </a:r>
          </a:p>
          <a:p>
            <a:pPr marL="228635" indent="-228635" algn="just">
              <a:buFont typeface="+mj-lt"/>
              <a:buAutoNum type="arabicPeriod"/>
            </a:pPr>
            <a:r>
              <a:rPr lang="en-US" dirty="0">
                <a:latin typeface="Times New Roman" panose="02020603050405020304" pitchFamily="18" charset="0"/>
                <a:cs typeface="Times New Roman" panose="02020603050405020304" pitchFamily="18" charset="0"/>
              </a:rPr>
              <a:t>S. Ullah, T. Najam, A. </a:t>
            </a:r>
            <a:r>
              <a:rPr lang="en-US" dirty="0" err="1">
                <a:latin typeface="Times New Roman" panose="02020603050405020304" pitchFamily="18" charset="0"/>
                <a:cs typeface="Times New Roman" panose="02020603050405020304" pitchFamily="18" charset="0"/>
              </a:rPr>
              <a:t>ur</a:t>
            </a:r>
            <a:r>
              <a:rPr lang="en-US" dirty="0">
                <a:latin typeface="Times New Roman" panose="02020603050405020304" pitchFamily="18" charset="0"/>
                <a:cs typeface="Times New Roman" panose="02020603050405020304" pitchFamily="18" charset="0"/>
              </a:rPr>
              <a:t> Rehman, et al, </a:t>
            </a:r>
            <a:r>
              <a:rPr lang="en-US" i="1" dirty="0">
                <a:latin typeface="Times New Roman" panose="02020603050405020304" pitchFamily="18" charset="0"/>
                <a:cs typeface="Times New Roman" panose="02020603050405020304" pitchFamily="18" charset="0"/>
              </a:rPr>
              <a:t>J. Alloys Compd.</a:t>
            </a:r>
            <a:r>
              <a:rPr lang="en-US" dirty="0">
                <a:latin typeface="Times New Roman" panose="02020603050405020304" pitchFamily="18" charset="0"/>
                <a:cs typeface="Times New Roman" panose="02020603050405020304" pitchFamily="18" charset="0"/>
              </a:rPr>
              <a:t> 2024, 1001, 175172</a:t>
            </a:r>
          </a:p>
          <a:p>
            <a:pPr marL="228635" indent="-228635" algn="just">
              <a:buFont typeface="+mj-lt"/>
              <a:buAutoNum type="arabicPeriod"/>
            </a:pP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Rafieerad</a:t>
            </a:r>
            <a:r>
              <a:rPr lang="en-US" dirty="0">
                <a:latin typeface="Times New Roman" panose="02020603050405020304" pitchFamily="18" charset="0"/>
                <a:cs typeface="Times New Roman" panose="02020603050405020304" pitchFamily="18" charset="0"/>
              </a:rPr>
              <a:t>, W. Yan, K. N. Alagarsamy, A. Srivastava, N. Sareen, R. C. Arora, S. Dhingra, </a:t>
            </a:r>
            <a:r>
              <a:rPr lang="en-US" i="1" dirty="0">
                <a:latin typeface="Times New Roman" panose="02020603050405020304" pitchFamily="18" charset="0"/>
                <a:cs typeface="Times New Roman" panose="02020603050405020304" pitchFamily="18" charset="0"/>
              </a:rPr>
              <a:t>Adv. </a:t>
            </a:r>
            <a:r>
              <a:rPr lang="en-US" i="1" dirty="0" err="1">
                <a:latin typeface="Times New Roman" panose="02020603050405020304" pitchFamily="18" charset="0"/>
                <a:cs typeface="Times New Roman" panose="02020603050405020304" pitchFamily="18" charset="0"/>
              </a:rPr>
              <a:t>Funct</a:t>
            </a:r>
            <a:r>
              <a:rPr lang="en-US" i="1" dirty="0">
                <a:latin typeface="Times New Roman" panose="02020603050405020304" pitchFamily="18" charset="0"/>
                <a:cs typeface="Times New Roman" panose="02020603050405020304" pitchFamily="18" charset="0"/>
              </a:rPr>
              <a:t>. Mater.</a:t>
            </a:r>
            <a:r>
              <a:rPr lang="en-US" dirty="0">
                <a:latin typeface="Times New Roman" panose="02020603050405020304" pitchFamily="18" charset="0"/>
                <a:cs typeface="Times New Roman" panose="02020603050405020304" pitchFamily="18" charset="0"/>
              </a:rPr>
              <a:t> 2021, 31, 2106786.</a:t>
            </a:r>
          </a:p>
        </p:txBody>
      </p:sp>
      <p:sp>
        <p:nvSpPr>
          <p:cNvPr id="45" name="TextBox 44">
            <a:extLst>
              <a:ext uri="{FF2B5EF4-FFF2-40B4-BE49-F238E27FC236}">
                <a16:creationId xmlns:a16="http://schemas.microsoft.com/office/drawing/2014/main" id="{20BC9D75-5AAC-45E1-AF39-E55FB874AD66}"/>
              </a:ext>
            </a:extLst>
          </p:cNvPr>
          <p:cNvSpPr txBox="1"/>
          <p:nvPr/>
        </p:nvSpPr>
        <p:spPr>
          <a:xfrm>
            <a:off x="37277123" y="8007908"/>
            <a:ext cx="3594831" cy="188641"/>
          </a:xfrm>
          <a:prstGeom prst="rect">
            <a:avLst/>
          </a:prstGeom>
          <a:noFill/>
        </p:spPr>
        <p:txBody>
          <a:bodyPr wrap="square" rtlCol="0">
            <a:spAutoFit/>
          </a:bodyPr>
          <a:lstStyle/>
          <a:p>
            <a:endParaRPr lang="en-US" sz="626"/>
          </a:p>
        </p:txBody>
      </p:sp>
      <p:sp>
        <p:nvSpPr>
          <p:cNvPr id="27" name="TextBox 26">
            <a:extLst>
              <a:ext uri="{FF2B5EF4-FFF2-40B4-BE49-F238E27FC236}">
                <a16:creationId xmlns:a16="http://schemas.microsoft.com/office/drawing/2014/main" id="{876F09F9-1255-496C-B574-49AA8DA9A3EB}"/>
              </a:ext>
            </a:extLst>
          </p:cNvPr>
          <p:cNvSpPr txBox="1"/>
          <p:nvPr/>
        </p:nvSpPr>
        <p:spPr>
          <a:xfrm>
            <a:off x="18050937" y="7366611"/>
            <a:ext cx="228991" cy="338554"/>
          </a:xfrm>
          <a:prstGeom prst="rect">
            <a:avLst/>
          </a:prstGeom>
          <a:noFill/>
        </p:spPr>
        <p:txBody>
          <a:bodyPr wrap="square" rtlCol="0">
            <a:spAutoFit/>
          </a:bodyPr>
          <a:lstStyle/>
          <a:p>
            <a:r>
              <a:rPr lang="en-US" sz="1600" b="1" dirty="0">
                <a:solidFill>
                  <a:schemeClr val="bg1"/>
                </a:solidFill>
              </a:rPr>
              <a:t>a</a:t>
            </a:r>
          </a:p>
        </p:txBody>
      </p:sp>
      <p:sp>
        <p:nvSpPr>
          <p:cNvPr id="66" name="TextBox 65">
            <a:extLst>
              <a:ext uri="{FF2B5EF4-FFF2-40B4-BE49-F238E27FC236}">
                <a16:creationId xmlns:a16="http://schemas.microsoft.com/office/drawing/2014/main" id="{D21CC765-3E6D-41D3-8CEC-A7EA7596CB13}"/>
              </a:ext>
            </a:extLst>
          </p:cNvPr>
          <p:cNvSpPr txBox="1"/>
          <p:nvPr/>
        </p:nvSpPr>
        <p:spPr>
          <a:xfrm>
            <a:off x="12254019" y="14427203"/>
            <a:ext cx="175051" cy="338554"/>
          </a:xfrm>
          <a:prstGeom prst="rect">
            <a:avLst/>
          </a:prstGeom>
          <a:noFill/>
        </p:spPr>
        <p:txBody>
          <a:bodyPr wrap="square" rtlCol="0">
            <a:spAutoFit/>
          </a:bodyPr>
          <a:lstStyle/>
          <a:p>
            <a:r>
              <a:rPr lang="en-US" sz="1600" b="1" dirty="0">
                <a:solidFill>
                  <a:schemeClr val="bg1"/>
                </a:solidFill>
              </a:rPr>
              <a:t>a</a:t>
            </a:r>
          </a:p>
        </p:txBody>
      </p:sp>
      <p:sp>
        <p:nvSpPr>
          <p:cNvPr id="67" name="TextBox 66">
            <a:extLst>
              <a:ext uri="{FF2B5EF4-FFF2-40B4-BE49-F238E27FC236}">
                <a16:creationId xmlns:a16="http://schemas.microsoft.com/office/drawing/2014/main" id="{16619130-483E-4D98-8F07-FEE9BBD8A0CA}"/>
              </a:ext>
            </a:extLst>
          </p:cNvPr>
          <p:cNvSpPr txBox="1"/>
          <p:nvPr/>
        </p:nvSpPr>
        <p:spPr>
          <a:xfrm>
            <a:off x="14799735" y="14444745"/>
            <a:ext cx="136605" cy="338554"/>
          </a:xfrm>
          <a:prstGeom prst="rect">
            <a:avLst/>
          </a:prstGeom>
          <a:noFill/>
        </p:spPr>
        <p:txBody>
          <a:bodyPr wrap="square" rtlCol="0">
            <a:spAutoFit/>
          </a:bodyPr>
          <a:lstStyle/>
          <a:p>
            <a:r>
              <a:rPr lang="en-US" sz="1600" b="1">
                <a:solidFill>
                  <a:schemeClr val="bg1"/>
                </a:solidFill>
              </a:rPr>
              <a:t>b</a:t>
            </a:r>
          </a:p>
        </p:txBody>
      </p:sp>
      <p:pic>
        <p:nvPicPr>
          <p:cNvPr id="37" name="Picture 36">
            <a:extLst>
              <a:ext uri="{FF2B5EF4-FFF2-40B4-BE49-F238E27FC236}">
                <a16:creationId xmlns:a16="http://schemas.microsoft.com/office/drawing/2014/main" id="{9F0D3F37-4EC8-4330-BAAC-96FD61971483}"/>
              </a:ext>
            </a:extLst>
          </p:cNvPr>
          <p:cNvPicPr>
            <a:picLocks noChangeAspect="1"/>
          </p:cNvPicPr>
          <p:nvPr/>
        </p:nvPicPr>
        <p:blipFill>
          <a:blip r:embed="rId3"/>
          <a:stretch>
            <a:fillRect/>
          </a:stretch>
        </p:blipFill>
        <p:spPr>
          <a:xfrm>
            <a:off x="1128491" y="770840"/>
            <a:ext cx="2785455" cy="1736388"/>
          </a:xfrm>
          <a:prstGeom prst="rect">
            <a:avLst/>
          </a:prstGeom>
        </p:spPr>
      </p:pic>
      <p:sp>
        <p:nvSpPr>
          <p:cNvPr id="71" name="Rectangle 70">
            <a:extLst>
              <a:ext uri="{FF2B5EF4-FFF2-40B4-BE49-F238E27FC236}">
                <a16:creationId xmlns:a16="http://schemas.microsoft.com/office/drawing/2014/main" id="{5379F401-6A9A-4042-99CA-0B8544C41820}"/>
              </a:ext>
            </a:extLst>
          </p:cNvPr>
          <p:cNvSpPr/>
          <p:nvPr/>
        </p:nvSpPr>
        <p:spPr>
          <a:xfrm>
            <a:off x="699544" y="4091672"/>
            <a:ext cx="9038520" cy="809674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1249B28D-D889-98D9-4C6D-50D82989C86A}"/>
              </a:ext>
            </a:extLst>
          </p:cNvPr>
          <p:cNvSpPr txBox="1"/>
          <p:nvPr/>
        </p:nvSpPr>
        <p:spPr>
          <a:xfrm>
            <a:off x="14839089" y="17711305"/>
            <a:ext cx="5279852" cy="2785378"/>
          </a:xfrm>
          <a:prstGeom prst="rect">
            <a:avLst/>
          </a:prstGeom>
          <a:noFill/>
        </p:spPr>
        <p:txBody>
          <a:bodyPr wrap="square">
            <a:spAutoFit/>
          </a:bodyPr>
          <a:lstStyle/>
          <a:p>
            <a:pPr marL="254038" indent="-254038">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Al-related peaks (182 cm</a:t>
            </a:r>
            <a:r>
              <a:rPr lang="en-US" sz="2500" baseline="30000" dirty="0">
                <a:latin typeface="Times New Roman" panose="02020603050405020304" pitchFamily="18" charset="0"/>
                <a:cs typeface="Times New Roman" panose="02020603050405020304" pitchFamily="18" charset="0"/>
              </a:rPr>
              <a:t>-1</a:t>
            </a:r>
            <a:r>
              <a:rPr lang="en-US" sz="2500" dirty="0">
                <a:latin typeface="Times New Roman" panose="02020603050405020304" pitchFamily="18" charset="0"/>
                <a:cs typeface="Times New Roman" panose="02020603050405020304" pitchFamily="18" charset="0"/>
              </a:rPr>
              <a:t> and 284 cm</a:t>
            </a:r>
            <a:r>
              <a:rPr lang="en-US" sz="2500" baseline="30000" dirty="0">
                <a:latin typeface="Times New Roman" panose="02020603050405020304" pitchFamily="18" charset="0"/>
                <a:cs typeface="Times New Roman" panose="02020603050405020304" pitchFamily="18" charset="0"/>
              </a:rPr>
              <a:t>-1</a:t>
            </a:r>
            <a:r>
              <a:rPr lang="en-US" sz="2500" dirty="0">
                <a:latin typeface="Times New Roman" panose="02020603050405020304" pitchFamily="18" charset="0"/>
                <a:cs typeface="Times New Roman" panose="02020603050405020304" pitchFamily="18" charset="0"/>
              </a:rPr>
              <a:t>) are significantly reduced in Ta</a:t>
            </a:r>
            <a:r>
              <a:rPr lang="en-US" sz="2500" baseline="-25000" dirty="0">
                <a:latin typeface="Times New Roman" panose="02020603050405020304" pitchFamily="18" charset="0"/>
                <a:cs typeface="Times New Roman" panose="02020603050405020304" pitchFamily="18" charset="0"/>
              </a:rPr>
              <a:t>4</a:t>
            </a:r>
            <a:r>
              <a:rPr lang="en-US" sz="2500" dirty="0">
                <a:latin typeface="Times New Roman" panose="02020603050405020304" pitchFamily="18" charset="0"/>
                <a:cs typeface="Times New Roman" panose="02020603050405020304" pitchFamily="18" charset="0"/>
              </a:rPr>
              <a:t>C</a:t>
            </a:r>
            <a:r>
              <a:rPr lang="en-US" sz="2500" baseline="-25000" dirty="0">
                <a:latin typeface="Times New Roman" panose="02020603050405020304" pitchFamily="18" charset="0"/>
                <a:cs typeface="Times New Roman" panose="02020603050405020304" pitchFamily="18" charset="0"/>
              </a:rPr>
              <a:t>3</a:t>
            </a:r>
            <a:r>
              <a:rPr lang="en-US" sz="2500" dirty="0">
                <a:latin typeface="Times New Roman" panose="02020603050405020304" pitchFamily="18" charset="0"/>
                <a:cs typeface="Times New Roman" panose="02020603050405020304" pitchFamily="18" charset="0"/>
              </a:rPr>
              <a:t>T</a:t>
            </a:r>
            <a:r>
              <a:rPr lang="en-US" sz="2500" baseline="-25000" dirty="0">
                <a:latin typeface="Times New Roman" panose="02020603050405020304" pitchFamily="18" charset="0"/>
                <a:cs typeface="Times New Roman" panose="02020603050405020304" pitchFamily="18" charset="0"/>
              </a:rPr>
              <a:t>x</a:t>
            </a:r>
            <a:r>
              <a:rPr lang="en-US" sz="2500" dirty="0">
                <a:latin typeface="Times New Roman" panose="02020603050405020304" pitchFamily="18" charset="0"/>
                <a:cs typeface="Times New Roman" panose="02020603050405020304" pitchFamily="18" charset="0"/>
              </a:rPr>
              <a:t> compared to those in Ta</a:t>
            </a:r>
            <a:r>
              <a:rPr lang="en-US" sz="2500" baseline="-25000" dirty="0">
                <a:latin typeface="Times New Roman" panose="02020603050405020304" pitchFamily="18" charset="0"/>
                <a:cs typeface="Times New Roman" panose="02020603050405020304" pitchFamily="18" charset="0"/>
              </a:rPr>
              <a:t>4</a:t>
            </a:r>
            <a:r>
              <a:rPr lang="en-US" sz="2500" dirty="0">
                <a:latin typeface="Times New Roman" panose="02020603050405020304" pitchFamily="18" charset="0"/>
                <a:cs typeface="Times New Roman" panose="02020603050405020304" pitchFamily="18" charset="0"/>
              </a:rPr>
              <a:t>AlC</a:t>
            </a:r>
            <a:r>
              <a:rPr lang="en-US" sz="2500" baseline="-25000" dirty="0">
                <a:latin typeface="Times New Roman" panose="02020603050405020304" pitchFamily="18" charset="0"/>
                <a:cs typeface="Times New Roman" panose="02020603050405020304" pitchFamily="18" charset="0"/>
              </a:rPr>
              <a:t>3</a:t>
            </a:r>
          </a:p>
          <a:p>
            <a:pPr marL="254038" indent="-254038">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Other prominent peaks (251 cm</a:t>
            </a:r>
            <a:r>
              <a:rPr lang="en-US" sz="2500" baseline="30000" dirty="0">
                <a:latin typeface="Times New Roman" panose="02020603050405020304" pitchFamily="18" charset="0"/>
                <a:cs typeface="Times New Roman" panose="02020603050405020304" pitchFamily="18" charset="0"/>
              </a:rPr>
              <a:t>-1</a:t>
            </a:r>
            <a:r>
              <a:rPr lang="en-US" sz="2500" dirty="0">
                <a:latin typeface="Times New Roman" panose="02020603050405020304" pitchFamily="18" charset="0"/>
                <a:cs typeface="Times New Roman" panose="02020603050405020304" pitchFamily="18" charset="0"/>
              </a:rPr>
              <a:t> and 652 cm</a:t>
            </a:r>
            <a:r>
              <a:rPr lang="en-US" sz="2500" baseline="30000" dirty="0">
                <a:latin typeface="Times New Roman" panose="02020603050405020304" pitchFamily="18" charset="0"/>
                <a:cs typeface="Times New Roman" panose="02020603050405020304" pitchFamily="18" charset="0"/>
              </a:rPr>
              <a:t>-1</a:t>
            </a:r>
            <a:r>
              <a:rPr lang="en-US" sz="2500" dirty="0">
                <a:latin typeface="Times New Roman" panose="02020603050405020304" pitchFamily="18" charset="0"/>
                <a:cs typeface="Times New Roman" panose="02020603050405020304" pitchFamily="18" charset="0"/>
              </a:rPr>
              <a:t>) are associated with the Ta and C layers</a:t>
            </a:r>
          </a:p>
        </p:txBody>
      </p:sp>
      <p:pic>
        <p:nvPicPr>
          <p:cNvPr id="16" name="Picture 15">
            <a:extLst>
              <a:ext uri="{FF2B5EF4-FFF2-40B4-BE49-F238E27FC236}">
                <a16:creationId xmlns:a16="http://schemas.microsoft.com/office/drawing/2014/main" id="{AF29473E-2C91-2C70-E6F5-A4E26942DD51}"/>
              </a:ext>
            </a:extLst>
          </p:cNvPr>
          <p:cNvPicPr>
            <a:picLocks noChangeAspect="1"/>
          </p:cNvPicPr>
          <p:nvPr/>
        </p:nvPicPr>
        <p:blipFill>
          <a:blip r:embed="rId4"/>
          <a:stretch>
            <a:fillRect/>
          </a:stretch>
        </p:blipFill>
        <p:spPr>
          <a:xfrm>
            <a:off x="23508929" y="1282347"/>
            <a:ext cx="5751871" cy="1031145"/>
          </a:xfrm>
          <a:prstGeom prst="rect">
            <a:avLst/>
          </a:prstGeom>
        </p:spPr>
      </p:pic>
      <p:pic>
        <p:nvPicPr>
          <p:cNvPr id="113" name="Picture 112">
            <a:extLst>
              <a:ext uri="{FF2B5EF4-FFF2-40B4-BE49-F238E27FC236}">
                <a16:creationId xmlns:a16="http://schemas.microsoft.com/office/drawing/2014/main" id="{4DEFB4F6-2CC5-4F61-850D-BAFC84000B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4101" y="10210273"/>
            <a:ext cx="3731940" cy="3279740"/>
          </a:xfrm>
          <a:prstGeom prst="rect">
            <a:avLst/>
          </a:prstGeom>
        </p:spPr>
      </p:pic>
      <p:pic>
        <p:nvPicPr>
          <p:cNvPr id="121" name="Picture 120">
            <a:extLst>
              <a:ext uri="{FF2B5EF4-FFF2-40B4-BE49-F238E27FC236}">
                <a16:creationId xmlns:a16="http://schemas.microsoft.com/office/drawing/2014/main" id="{A537BE2C-E516-2217-512B-34419E7EE7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24032" y="17449781"/>
            <a:ext cx="3731941" cy="3202988"/>
          </a:xfrm>
          <a:prstGeom prst="rect">
            <a:avLst/>
          </a:prstGeom>
        </p:spPr>
      </p:pic>
      <p:sp>
        <p:nvSpPr>
          <p:cNvPr id="131" name="TextBox 130">
            <a:extLst>
              <a:ext uri="{FF2B5EF4-FFF2-40B4-BE49-F238E27FC236}">
                <a16:creationId xmlns:a16="http://schemas.microsoft.com/office/drawing/2014/main" id="{D3276442-7B27-1069-C201-2103DE24EA7C}"/>
              </a:ext>
            </a:extLst>
          </p:cNvPr>
          <p:cNvSpPr txBox="1"/>
          <p:nvPr/>
        </p:nvSpPr>
        <p:spPr>
          <a:xfrm>
            <a:off x="5897661" y="13771547"/>
            <a:ext cx="3575468" cy="3554819"/>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Tantalum-based MXenes, such as Ta₄C₃Tₓ, exhibit high electrical conductivity and strong optical nonlinearities, making them well-suited for energy storage, catalysis, optoelectronic, and photonic applications.</a:t>
            </a:r>
            <a:endParaRPr lang="en-US" sz="2500" dirty="0"/>
          </a:p>
        </p:txBody>
      </p:sp>
      <p:sp>
        <p:nvSpPr>
          <p:cNvPr id="160" name="TextBox 159">
            <a:extLst>
              <a:ext uri="{FF2B5EF4-FFF2-40B4-BE49-F238E27FC236}">
                <a16:creationId xmlns:a16="http://schemas.microsoft.com/office/drawing/2014/main" id="{0D5C2D31-FF88-42A1-816E-BF6057D605A6}"/>
              </a:ext>
            </a:extLst>
          </p:cNvPr>
          <p:cNvSpPr txBox="1">
            <a:spLocks/>
          </p:cNvSpPr>
          <p:nvPr/>
        </p:nvSpPr>
        <p:spPr>
          <a:xfrm>
            <a:off x="11115835" y="14661608"/>
            <a:ext cx="3305878" cy="1631216"/>
          </a:xfrm>
          <a:prstGeom prst="rect">
            <a:avLst/>
          </a:prstGeom>
          <a:noFill/>
        </p:spPr>
        <p:txBody>
          <a:bodyPr wrap="square" rtlCol="0">
            <a:spAutoFit/>
          </a:bodyPr>
          <a:lstStyle/>
          <a:p>
            <a:pPr marL="228611" indent="-228611"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MAX Phase depicts Bulky Morphology</a:t>
            </a:r>
          </a:p>
          <a:p>
            <a:pPr marL="228611" indent="-228611"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MXene phase depicts layered structure</a:t>
            </a:r>
          </a:p>
        </p:txBody>
      </p:sp>
      <p:grpSp>
        <p:nvGrpSpPr>
          <p:cNvPr id="178" name="Group 177">
            <a:extLst>
              <a:ext uri="{FF2B5EF4-FFF2-40B4-BE49-F238E27FC236}">
                <a16:creationId xmlns:a16="http://schemas.microsoft.com/office/drawing/2014/main" id="{F7020E1D-D480-5E59-C569-A0E9BB96F3B9}"/>
              </a:ext>
            </a:extLst>
          </p:cNvPr>
          <p:cNvGrpSpPr/>
          <p:nvPr/>
        </p:nvGrpSpPr>
        <p:grpSpPr>
          <a:xfrm>
            <a:off x="14839088" y="14160157"/>
            <a:ext cx="5301988" cy="2490051"/>
            <a:chOff x="11631346" y="15723558"/>
            <a:chExt cx="9216000" cy="3456005"/>
          </a:xfrm>
        </p:grpSpPr>
        <p:pic>
          <p:nvPicPr>
            <p:cNvPr id="173" name="Picture 172">
              <a:extLst>
                <a:ext uri="{FF2B5EF4-FFF2-40B4-BE49-F238E27FC236}">
                  <a16:creationId xmlns:a16="http://schemas.microsoft.com/office/drawing/2014/main" id="{FBD1BDF8-221E-B832-78A9-D556C6C6B0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239346" y="15723558"/>
              <a:ext cx="4608000" cy="3455998"/>
            </a:xfrm>
            <a:prstGeom prst="rect">
              <a:avLst/>
            </a:prstGeom>
          </p:spPr>
        </p:pic>
        <p:pic>
          <p:nvPicPr>
            <p:cNvPr id="175" name="Picture 174">
              <a:extLst>
                <a:ext uri="{FF2B5EF4-FFF2-40B4-BE49-F238E27FC236}">
                  <a16:creationId xmlns:a16="http://schemas.microsoft.com/office/drawing/2014/main" id="{033B4C4A-F4DC-C081-E28F-9A7D54A1859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631346" y="15723563"/>
              <a:ext cx="4608000" cy="3456000"/>
            </a:xfrm>
            <a:prstGeom prst="rect">
              <a:avLst/>
            </a:prstGeom>
          </p:spPr>
        </p:pic>
      </p:grpSp>
      <p:sp>
        <p:nvSpPr>
          <p:cNvPr id="149" name="TextBox 148">
            <a:extLst>
              <a:ext uri="{FF2B5EF4-FFF2-40B4-BE49-F238E27FC236}">
                <a16:creationId xmlns:a16="http://schemas.microsoft.com/office/drawing/2014/main" id="{4B83128A-2359-B36B-B819-3A26190FFEEA}"/>
              </a:ext>
            </a:extLst>
          </p:cNvPr>
          <p:cNvSpPr txBox="1"/>
          <p:nvPr/>
        </p:nvSpPr>
        <p:spPr>
          <a:xfrm>
            <a:off x="14927074" y="10229100"/>
            <a:ext cx="5191866" cy="2785378"/>
          </a:xfrm>
          <a:prstGeom prst="rect">
            <a:avLst/>
          </a:prstGeom>
          <a:noFill/>
        </p:spPr>
        <p:txBody>
          <a:bodyPr wrap="square" rtlCol="0">
            <a:spAutoFit/>
          </a:bodyPr>
          <a:lstStyle/>
          <a:p>
            <a:pPr marL="228611" indent="-22861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Downard shift and broadening of the (002) to lower angle of 5.8° in Ta</a:t>
            </a:r>
            <a:r>
              <a:rPr lang="en-US" sz="2500" baseline="-25000" dirty="0">
                <a:latin typeface="Times New Roman" panose="02020603050405020304" pitchFamily="18" charset="0"/>
                <a:cs typeface="Times New Roman" panose="02020603050405020304" pitchFamily="18" charset="0"/>
              </a:rPr>
              <a:t>4</a:t>
            </a:r>
            <a:r>
              <a:rPr lang="en-US" sz="2500" dirty="0">
                <a:latin typeface="Times New Roman" panose="02020603050405020304" pitchFamily="18" charset="0"/>
                <a:cs typeface="Times New Roman" panose="02020603050405020304" pitchFamily="18" charset="0"/>
              </a:rPr>
              <a:t>C</a:t>
            </a:r>
            <a:r>
              <a:rPr lang="en-US" sz="2500" baseline="-25000" dirty="0">
                <a:latin typeface="Times New Roman" panose="02020603050405020304" pitchFamily="18" charset="0"/>
                <a:cs typeface="Times New Roman" panose="02020603050405020304" pitchFamily="18" charset="0"/>
              </a:rPr>
              <a:t>3</a:t>
            </a:r>
            <a:r>
              <a:rPr lang="en-US" sz="2500" dirty="0">
                <a:latin typeface="Times New Roman" panose="02020603050405020304" pitchFamily="18" charset="0"/>
                <a:cs typeface="Times New Roman" panose="02020603050405020304" pitchFamily="18" charset="0"/>
              </a:rPr>
              <a:t>T</a:t>
            </a:r>
            <a:r>
              <a:rPr lang="en-US" sz="2500" baseline="-25000" dirty="0">
                <a:latin typeface="Times New Roman" panose="02020603050405020304" pitchFamily="18" charset="0"/>
                <a:cs typeface="Times New Roman" panose="02020603050405020304" pitchFamily="18" charset="0"/>
              </a:rPr>
              <a:t>x</a:t>
            </a:r>
            <a:r>
              <a:rPr lang="en-US" sz="2500" dirty="0">
                <a:latin typeface="Times New Roman" panose="02020603050405020304" pitchFamily="18" charset="0"/>
                <a:cs typeface="Times New Roman" panose="02020603050405020304" pitchFamily="18" charset="0"/>
              </a:rPr>
              <a:t>, confirms expansion of the c lattice space</a:t>
            </a:r>
          </a:p>
          <a:p>
            <a:pPr marL="228611" indent="-22861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Al etching is shown by the sharp reduction and broadening of the Al-related peaks near 30°- 40°. </a:t>
            </a:r>
          </a:p>
        </p:txBody>
      </p:sp>
      <p:sp>
        <p:nvSpPr>
          <p:cNvPr id="179" name="TextBox 178">
            <a:extLst>
              <a:ext uri="{FF2B5EF4-FFF2-40B4-BE49-F238E27FC236}">
                <a16:creationId xmlns:a16="http://schemas.microsoft.com/office/drawing/2014/main" id="{6CE744CB-011F-D528-EFB4-0725B463C299}"/>
              </a:ext>
            </a:extLst>
          </p:cNvPr>
          <p:cNvSpPr txBox="1"/>
          <p:nvPr/>
        </p:nvSpPr>
        <p:spPr>
          <a:xfrm>
            <a:off x="15471260" y="16885886"/>
            <a:ext cx="3878221"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Figure 2. </a:t>
            </a:r>
            <a:r>
              <a:rPr lang="en-US" sz="1200" dirty="0">
                <a:latin typeface="Times New Roman" panose="02020603050405020304" pitchFamily="18" charset="0"/>
                <a:cs typeface="Times New Roman" panose="02020603050405020304" pitchFamily="18" charset="0"/>
              </a:rPr>
              <a:t>SEM images of MAX (left) and MXene (right) surface morphology. </a:t>
            </a:r>
            <a:endParaRPr lang="en-US" sz="1200" dirty="0"/>
          </a:p>
        </p:txBody>
      </p:sp>
      <p:grpSp>
        <p:nvGrpSpPr>
          <p:cNvPr id="12" name="Group 11">
            <a:extLst>
              <a:ext uri="{FF2B5EF4-FFF2-40B4-BE49-F238E27FC236}">
                <a16:creationId xmlns:a16="http://schemas.microsoft.com/office/drawing/2014/main" id="{C2396040-0873-0FFE-4B52-CD5F24FCF29F}"/>
              </a:ext>
            </a:extLst>
          </p:cNvPr>
          <p:cNvGrpSpPr/>
          <p:nvPr/>
        </p:nvGrpSpPr>
        <p:grpSpPr>
          <a:xfrm>
            <a:off x="666827" y="12394187"/>
            <a:ext cx="9071236" cy="747457"/>
            <a:chOff x="835956" y="3371498"/>
            <a:chExt cx="8902108" cy="747457"/>
          </a:xfrm>
        </p:grpSpPr>
        <p:sp>
          <p:nvSpPr>
            <p:cNvPr id="13" name="Rectangle 12">
              <a:extLst>
                <a:ext uri="{FF2B5EF4-FFF2-40B4-BE49-F238E27FC236}">
                  <a16:creationId xmlns:a16="http://schemas.microsoft.com/office/drawing/2014/main" id="{69E4DF5E-A468-85B6-0F90-B6D28FD60D5C}"/>
                </a:ext>
              </a:extLst>
            </p:cNvPr>
            <p:cNvSpPr/>
            <p:nvPr/>
          </p:nvSpPr>
          <p:spPr>
            <a:xfrm>
              <a:off x="835956" y="3371498"/>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3BE70E9-4AB3-7C34-DD3C-73A41FB8C8C0}"/>
                </a:ext>
              </a:extLst>
            </p:cNvPr>
            <p:cNvSpPr txBox="1"/>
            <p:nvPr/>
          </p:nvSpPr>
          <p:spPr>
            <a:xfrm>
              <a:off x="3800151" y="3419042"/>
              <a:ext cx="2747058" cy="553998"/>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Introduction</a:t>
              </a:r>
            </a:p>
          </p:txBody>
        </p:sp>
      </p:grpSp>
      <p:pic>
        <p:nvPicPr>
          <p:cNvPr id="145" name="Picture 144">
            <a:extLst>
              <a:ext uri="{FF2B5EF4-FFF2-40B4-BE49-F238E27FC236}">
                <a16:creationId xmlns:a16="http://schemas.microsoft.com/office/drawing/2014/main" id="{B9CB9EFF-6A77-BCC7-275F-DA7D175488EF}"/>
              </a:ext>
            </a:extLst>
          </p:cNvPr>
          <p:cNvPicPr>
            <a:picLocks noChangeAspect="1"/>
          </p:cNvPicPr>
          <p:nvPr/>
        </p:nvPicPr>
        <p:blipFill>
          <a:blip r:embed="rId9" cstate="print">
            <a:extLst>
              <a:ext uri="{28A0092B-C50C-407E-A947-70E740481C1C}">
                <a14:useLocalDpi xmlns:a14="http://schemas.microsoft.com/office/drawing/2010/main" val="0"/>
              </a:ext>
            </a:extLst>
          </a:blip>
          <a:srcRect l="1272" t="2500" r="1457" b="3660"/>
          <a:stretch>
            <a:fillRect/>
          </a:stretch>
        </p:blipFill>
        <p:spPr>
          <a:xfrm>
            <a:off x="4018502" y="18419763"/>
            <a:ext cx="5537769" cy="3012701"/>
          </a:xfrm>
          <a:prstGeom prst="rect">
            <a:avLst/>
          </a:prstGeom>
        </p:spPr>
      </p:pic>
      <p:graphicFrame>
        <p:nvGraphicFramePr>
          <p:cNvPr id="26" name="Table 25">
            <a:extLst>
              <a:ext uri="{FF2B5EF4-FFF2-40B4-BE49-F238E27FC236}">
                <a16:creationId xmlns:a16="http://schemas.microsoft.com/office/drawing/2014/main" id="{2DCE95A0-D1BD-8B97-5CB1-59B0FDEE45CF}"/>
              </a:ext>
            </a:extLst>
          </p:cNvPr>
          <p:cNvGraphicFramePr>
            <a:graphicFrameLocks noGrp="1"/>
          </p:cNvGraphicFramePr>
          <p:nvPr>
            <p:extLst>
              <p:ext uri="{D42A27DB-BD31-4B8C-83A1-F6EECF244321}">
                <p14:modId xmlns:p14="http://schemas.microsoft.com/office/powerpoint/2010/main" val="833623995"/>
              </p:ext>
            </p:extLst>
          </p:nvPr>
        </p:nvGraphicFramePr>
        <p:xfrm>
          <a:off x="681641" y="18256109"/>
          <a:ext cx="3406890" cy="3376710"/>
        </p:xfrm>
        <a:graphic>
          <a:graphicData uri="http://schemas.openxmlformats.org/drawingml/2006/table">
            <a:tbl>
              <a:tblPr firstRow="1" bandRow="1">
                <a:tableStyleId>{5C22544A-7EE6-4342-B048-85BDC9FD1C3A}</a:tableStyleId>
              </a:tblPr>
              <a:tblGrid>
                <a:gridCol w="3406890">
                  <a:extLst>
                    <a:ext uri="{9D8B030D-6E8A-4147-A177-3AD203B41FA5}">
                      <a16:colId xmlns:a16="http://schemas.microsoft.com/office/drawing/2014/main" val="2062376213"/>
                    </a:ext>
                  </a:extLst>
                </a:gridCol>
              </a:tblGrid>
              <a:tr h="1180736">
                <a:tc>
                  <a:txBody>
                    <a:bodyPr/>
                    <a:lstStyle/>
                    <a:p>
                      <a:pPr algn="ctr"/>
                      <a:r>
                        <a:rPr lang="en-US" sz="1800" b="0" dirty="0">
                          <a:solidFill>
                            <a:schemeClr val="tx1"/>
                          </a:solidFill>
                        </a:rPr>
                        <a:t>MAX Phase: </a:t>
                      </a:r>
                      <a:r>
                        <a:rPr lang="en-US" sz="1800" b="0" i="0" kern="1200" dirty="0">
                          <a:solidFill>
                            <a:schemeClr val="tx1"/>
                          </a:solidFill>
                          <a:effectLst/>
                          <a:latin typeface="+mn-lt"/>
                          <a:ea typeface="+mn-ea"/>
                          <a:cs typeface="+mn-cs"/>
                        </a:rPr>
                        <a:t>Parent material consisting of M (transition metal), X (a carbon/nitrogen), and “A” group element</a:t>
                      </a:r>
                      <a:endParaRPr lang="en-US" sz="1800" b="0" dirty="0">
                        <a:solidFill>
                          <a:schemeClr val="tx1"/>
                        </a:solidFill>
                      </a:endParaRPr>
                    </a:p>
                  </a:txBody>
                  <a:tcPr anchor="ctr"/>
                </a:tc>
                <a:extLst>
                  <a:ext uri="{0D108BD9-81ED-4DB2-BD59-A6C34878D82A}">
                    <a16:rowId xmlns:a16="http://schemas.microsoft.com/office/drawing/2014/main" val="2287889193"/>
                  </a:ext>
                </a:extLst>
              </a:tr>
              <a:tr h="1093995">
                <a:tc>
                  <a:txBody>
                    <a:bodyPr/>
                    <a:lstStyle/>
                    <a:p>
                      <a:pPr algn="ctr"/>
                      <a:r>
                        <a:rPr lang="en-US" sz="1800" b="0" dirty="0">
                          <a:solidFill>
                            <a:schemeClr val="tx1"/>
                          </a:solidFill>
                        </a:rPr>
                        <a:t>Etching: Process of selectively removing “A” group element from MAX Phase</a:t>
                      </a:r>
                    </a:p>
                  </a:txBody>
                  <a:tcPr anchor="ctr"/>
                </a:tc>
                <a:extLst>
                  <a:ext uri="{0D108BD9-81ED-4DB2-BD59-A6C34878D82A}">
                    <a16:rowId xmlns:a16="http://schemas.microsoft.com/office/drawing/2014/main" val="1661903246"/>
                  </a:ext>
                </a:extLst>
              </a:tr>
              <a:tr h="1093995">
                <a:tc>
                  <a:txBody>
                    <a:bodyPr/>
                    <a:lstStyle/>
                    <a:p>
                      <a:pPr algn="ctr"/>
                      <a:r>
                        <a:rPr lang="en-US" sz="1800" b="0" dirty="0">
                          <a:solidFill>
                            <a:schemeClr val="tx1"/>
                          </a:solidFill>
                        </a:rPr>
                        <a:t>MXene: Layered 2D structure resulting from etching (with acid or other methods) </a:t>
                      </a:r>
                    </a:p>
                  </a:txBody>
                  <a:tcPr anchor="ctr"/>
                </a:tc>
                <a:extLst>
                  <a:ext uri="{0D108BD9-81ED-4DB2-BD59-A6C34878D82A}">
                    <a16:rowId xmlns:a16="http://schemas.microsoft.com/office/drawing/2014/main" val="2587607093"/>
                  </a:ext>
                </a:extLst>
              </a:tr>
            </a:tbl>
          </a:graphicData>
        </a:graphic>
      </p:graphicFrame>
      <p:sp>
        <p:nvSpPr>
          <p:cNvPr id="29" name="TextBox 28">
            <a:extLst>
              <a:ext uri="{FF2B5EF4-FFF2-40B4-BE49-F238E27FC236}">
                <a16:creationId xmlns:a16="http://schemas.microsoft.com/office/drawing/2014/main" id="{4DE5EEFB-99E9-30EF-E66E-3D1B401A8243}"/>
              </a:ext>
            </a:extLst>
          </p:cNvPr>
          <p:cNvSpPr txBox="1"/>
          <p:nvPr/>
        </p:nvSpPr>
        <p:spPr>
          <a:xfrm>
            <a:off x="1014109" y="4303175"/>
            <a:ext cx="8459020" cy="7786747"/>
          </a:xfrm>
          <a:prstGeom prst="rect">
            <a:avLst/>
          </a:prstGeom>
          <a:noFill/>
        </p:spPr>
        <p:txBody>
          <a:bodyPr wrap="square">
            <a:spAutoFit/>
          </a:bodyPr>
          <a:lstStyle/>
          <a:p>
            <a:pPr algn="just" defTabSz="406258" fontAlgn="base">
              <a:spcBef>
                <a:spcPct val="0"/>
              </a:spcBef>
              <a:spcAft>
                <a:spcPct val="0"/>
              </a:spcAft>
            </a:pPr>
            <a:r>
              <a:rPr lang="en-US" sz="2500" dirty="0">
                <a:latin typeface="Times New Roman" panose="02020603050405020304" pitchFamily="18" charset="0"/>
                <a:cs typeface="Times New Roman" panose="02020603050405020304" pitchFamily="18" charset="0"/>
              </a:rPr>
              <a:t>Tantalum carbide (Ta₄C₃Tₓ) is expected to possess high structural stability. However, the enhanced stability of Ta-based MAX phases poses challenges in the etching process, making it difficult to determine the optimal parameters for MXene synthesis. This study focuses on adjusting synthesis parameters to develop an optimized process for producing Ta₄C₃Tₓ MXenes. Structural and compositional properties were investigated using XRD, SEM, and Raman spectroscopy analyses. XRD plays a key role in evaluating a material’s structural integrity. By varying parameters such as etching duration and HF quantity, Ta₄C₃Tₓ was successfully synthesized. Increasing HF quantity while reducing etching time led to improved synthesis outcomes, ensuring complete removal of aluminum as evidenced by the disappearance of the characteristic Al peak around 7°, confirming successful etching. Selective etching of A-site atoms (Al) from the MAX phase generates MXenes terminated with -O, -OH, and/or -F functional groups. These surface terminations influence interlayer spacing observed in XRD patterns and strongly affect the structure, stability, and electronic and optical properties of the resulting material.</a:t>
            </a:r>
          </a:p>
        </p:txBody>
      </p:sp>
      <p:pic>
        <p:nvPicPr>
          <p:cNvPr id="31" name="Picture 30">
            <a:extLst>
              <a:ext uri="{FF2B5EF4-FFF2-40B4-BE49-F238E27FC236}">
                <a16:creationId xmlns:a16="http://schemas.microsoft.com/office/drawing/2014/main" id="{CB52CDF4-0A3B-EA4D-3342-7C1F41B0DB4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60727" y="13431890"/>
            <a:ext cx="4572000" cy="4422038"/>
          </a:xfrm>
          <a:prstGeom prst="rect">
            <a:avLst/>
          </a:prstGeom>
        </p:spPr>
      </p:pic>
      <p:grpSp>
        <p:nvGrpSpPr>
          <p:cNvPr id="32" name="Group 31">
            <a:extLst>
              <a:ext uri="{FF2B5EF4-FFF2-40B4-BE49-F238E27FC236}">
                <a16:creationId xmlns:a16="http://schemas.microsoft.com/office/drawing/2014/main" id="{BF3D7C7E-8EF0-9DE6-3552-9312B95D441C}"/>
              </a:ext>
            </a:extLst>
          </p:cNvPr>
          <p:cNvGrpSpPr/>
          <p:nvPr/>
        </p:nvGrpSpPr>
        <p:grpSpPr>
          <a:xfrm>
            <a:off x="699544" y="3344215"/>
            <a:ext cx="9038728" cy="747457"/>
            <a:chOff x="835956" y="3371498"/>
            <a:chExt cx="8902108" cy="747457"/>
          </a:xfrm>
        </p:grpSpPr>
        <p:sp>
          <p:nvSpPr>
            <p:cNvPr id="35" name="Rectangle 34">
              <a:extLst>
                <a:ext uri="{FF2B5EF4-FFF2-40B4-BE49-F238E27FC236}">
                  <a16:creationId xmlns:a16="http://schemas.microsoft.com/office/drawing/2014/main" id="{9B5359E5-9BC2-FF94-22DF-C5AAF899B34F}"/>
                </a:ext>
              </a:extLst>
            </p:cNvPr>
            <p:cNvSpPr/>
            <p:nvPr/>
          </p:nvSpPr>
          <p:spPr>
            <a:xfrm>
              <a:off x="835956" y="3371498"/>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73FA394-21EC-262F-BB08-2D0EF19B2042}"/>
                </a:ext>
              </a:extLst>
            </p:cNvPr>
            <p:cNvSpPr txBox="1"/>
            <p:nvPr/>
          </p:nvSpPr>
          <p:spPr>
            <a:xfrm>
              <a:off x="4173719" y="3439407"/>
              <a:ext cx="2155353" cy="553998"/>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Abstract</a:t>
              </a:r>
            </a:p>
          </p:txBody>
        </p:sp>
      </p:grpSp>
      <p:grpSp>
        <p:nvGrpSpPr>
          <p:cNvPr id="38" name="Group 37">
            <a:extLst>
              <a:ext uri="{FF2B5EF4-FFF2-40B4-BE49-F238E27FC236}">
                <a16:creationId xmlns:a16="http://schemas.microsoft.com/office/drawing/2014/main" id="{3507B434-4FD3-679A-35AB-D6646E5F7E39}"/>
              </a:ext>
            </a:extLst>
          </p:cNvPr>
          <p:cNvGrpSpPr/>
          <p:nvPr/>
        </p:nvGrpSpPr>
        <p:grpSpPr>
          <a:xfrm>
            <a:off x="10280370" y="3344216"/>
            <a:ext cx="10181570" cy="758208"/>
            <a:chOff x="835956" y="3371498"/>
            <a:chExt cx="8902108" cy="747457"/>
          </a:xfrm>
        </p:grpSpPr>
        <p:sp>
          <p:nvSpPr>
            <p:cNvPr id="39" name="Rectangle 38">
              <a:extLst>
                <a:ext uri="{FF2B5EF4-FFF2-40B4-BE49-F238E27FC236}">
                  <a16:creationId xmlns:a16="http://schemas.microsoft.com/office/drawing/2014/main" id="{B26DBFE9-59F9-2966-F72B-A5271FBE119F}"/>
                </a:ext>
              </a:extLst>
            </p:cNvPr>
            <p:cNvSpPr/>
            <p:nvPr/>
          </p:nvSpPr>
          <p:spPr>
            <a:xfrm>
              <a:off x="835956" y="3371498"/>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3479F94-87C6-9C36-2674-8566AECEEAD6}"/>
                </a:ext>
              </a:extLst>
            </p:cNvPr>
            <p:cNvSpPr txBox="1"/>
            <p:nvPr/>
          </p:nvSpPr>
          <p:spPr>
            <a:xfrm>
              <a:off x="3453310" y="3496030"/>
              <a:ext cx="3884196" cy="546143"/>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Synthesis Procedure</a:t>
              </a:r>
            </a:p>
          </p:txBody>
        </p:sp>
      </p:grpSp>
      <p:grpSp>
        <p:nvGrpSpPr>
          <p:cNvPr id="82" name="Group 81">
            <a:extLst>
              <a:ext uri="{FF2B5EF4-FFF2-40B4-BE49-F238E27FC236}">
                <a16:creationId xmlns:a16="http://schemas.microsoft.com/office/drawing/2014/main" id="{22E44036-5028-201B-8446-78597C361B2F}"/>
              </a:ext>
            </a:extLst>
          </p:cNvPr>
          <p:cNvGrpSpPr/>
          <p:nvPr/>
        </p:nvGrpSpPr>
        <p:grpSpPr>
          <a:xfrm>
            <a:off x="21094303" y="3376864"/>
            <a:ext cx="7599401" cy="5840103"/>
            <a:chOff x="21094303" y="3376864"/>
            <a:chExt cx="7599401" cy="5840103"/>
          </a:xfrm>
        </p:grpSpPr>
        <p:sp>
          <p:nvSpPr>
            <p:cNvPr id="7" name="Rectangle 6">
              <a:extLst>
                <a:ext uri="{FF2B5EF4-FFF2-40B4-BE49-F238E27FC236}">
                  <a16:creationId xmlns:a16="http://schemas.microsoft.com/office/drawing/2014/main" id="{15069666-D2B3-95E1-8687-CB4BAE330C03}"/>
                </a:ext>
              </a:extLst>
            </p:cNvPr>
            <p:cNvSpPr/>
            <p:nvPr/>
          </p:nvSpPr>
          <p:spPr>
            <a:xfrm>
              <a:off x="21094303" y="4044089"/>
              <a:ext cx="7599401" cy="5172878"/>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grpSp>
          <p:nvGrpSpPr>
            <p:cNvPr id="41" name="Group 40">
              <a:extLst>
                <a:ext uri="{FF2B5EF4-FFF2-40B4-BE49-F238E27FC236}">
                  <a16:creationId xmlns:a16="http://schemas.microsoft.com/office/drawing/2014/main" id="{A3634B40-199F-95A6-46F6-34012FA64633}"/>
                </a:ext>
              </a:extLst>
            </p:cNvPr>
            <p:cNvGrpSpPr/>
            <p:nvPr/>
          </p:nvGrpSpPr>
          <p:grpSpPr>
            <a:xfrm>
              <a:off x="21094303" y="3376864"/>
              <a:ext cx="7599401" cy="674796"/>
              <a:chOff x="835956" y="3371498"/>
              <a:chExt cx="8902108" cy="747457"/>
            </a:xfrm>
          </p:grpSpPr>
          <p:sp>
            <p:nvSpPr>
              <p:cNvPr id="42" name="Rectangle 41">
                <a:extLst>
                  <a:ext uri="{FF2B5EF4-FFF2-40B4-BE49-F238E27FC236}">
                    <a16:creationId xmlns:a16="http://schemas.microsoft.com/office/drawing/2014/main" id="{F7CF1F06-ABF6-B320-1552-111868BD19C1}"/>
                  </a:ext>
                </a:extLst>
              </p:cNvPr>
              <p:cNvSpPr/>
              <p:nvPr/>
            </p:nvSpPr>
            <p:spPr>
              <a:xfrm>
                <a:off x="835956" y="3371498"/>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9FDC655C-1E2D-9905-4CC8-C80D24CA280C}"/>
                  </a:ext>
                </a:extLst>
              </p:cNvPr>
              <p:cNvSpPr txBox="1"/>
              <p:nvPr/>
            </p:nvSpPr>
            <p:spPr>
              <a:xfrm>
                <a:off x="2700491" y="3427404"/>
                <a:ext cx="5173036" cy="61365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Results &amp; Conclusion</a:t>
                </a:r>
              </a:p>
            </p:txBody>
          </p:sp>
        </p:grpSp>
      </p:grpSp>
      <p:grpSp>
        <p:nvGrpSpPr>
          <p:cNvPr id="44" name="Group 43">
            <a:extLst>
              <a:ext uri="{FF2B5EF4-FFF2-40B4-BE49-F238E27FC236}">
                <a16:creationId xmlns:a16="http://schemas.microsoft.com/office/drawing/2014/main" id="{86D79C37-27E5-9A0E-13BE-EF2CBC196697}"/>
              </a:ext>
            </a:extLst>
          </p:cNvPr>
          <p:cNvGrpSpPr>
            <a:grpSpLocks noChangeAspect="1"/>
          </p:cNvGrpSpPr>
          <p:nvPr/>
        </p:nvGrpSpPr>
        <p:grpSpPr>
          <a:xfrm>
            <a:off x="10992509" y="4641472"/>
            <a:ext cx="8757292" cy="3473439"/>
            <a:chOff x="11026362" y="5549278"/>
            <a:chExt cx="21954819" cy="8246742"/>
          </a:xfrm>
        </p:grpSpPr>
        <p:grpSp>
          <p:nvGrpSpPr>
            <p:cNvPr id="46" name="Group 45">
              <a:extLst>
                <a:ext uri="{FF2B5EF4-FFF2-40B4-BE49-F238E27FC236}">
                  <a16:creationId xmlns:a16="http://schemas.microsoft.com/office/drawing/2014/main" id="{4E2D3113-C46B-75D7-126A-E1CB2D535348}"/>
                </a:ext>
              </a:extLst>
            </p:cNvPr>
            <p:cNvGrpSpPr/>
            <p:nvPr/>
          </p:nvGrpSpPr>
          <p:grpSpPr>
            <a:xfrm>
              <a:off x="11026362" y="5549278"/>
              <a:ext cx="21954819" cy="4443087"/>
              <a:chOff x="11059193" y="5869479"/>
              <a:chExt cx="21954819" cy="4443087"/>
            </a:xfrm>
          </p:grpSpPr>
          <p:pic>
            <p:nvPicPr>
              <p:cNvPr id="53" name="Picture 52">
                <a:extLst>
                  <a:ext uri="{FF2B5EF4-FFF2-40B4-BE49-F238E27FC236}">
                    <a16:creationId xmlns:a16="http://schemas.microsoft.com/office/drawing/2014/main" id="{25F54DFE-2E7F-C45A-4B36-190B4AC1966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059193" y="5869480"/>
                <a:ext cx="3332314" cy="4443086"/>
              </a:xfrm>
              <a:prstGeom prst="rect">
                <a:avLst/>
              </a:prstGeom>
            </p:spPr>
          </p:pic>
          <p:pic>
            <p:nvPicPr>
              <p:cNvPr id="54" name="Picture 53">
                <a:extLst>
                  <a:ext uri="{FF2B5EF4-FFF2-40B4-BE49-F238E27FC236}">
                    <a16:creationId xmlns:a16="http://schemas.microsoft.com/office/drawing/2014/main" id="{44173123-4987-7DD0-CC00-0129F63F2A5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4802444" y="5869479"/>
                <a:ext cx="3332315" cy="4443086"/>
              </a:xfrm>
              <a:prstGeom prst="rect">
                <a:avLst/>
              </a:prstGeom>
            </p:spPr>
          </p:pic>
          <p:pic>
            <p:nvPicPr>
              <p:cNvPr id="55" name="Content Placeholder 10">
                <a:extLst>
                  <a:ext uri="{FF2B5EF4-FFF2-40B4-BE49-F238E27FC236}">
                    <a16:creationId xmlns:a16="http://schemas.microsoft.com/office/drawing/2014/main" id="{F165C30E-7AC2-BEF5-580F-11D657D38F68}"/>
                  </a:ext>
                </a:extLst>
              </p:cNvPr>
              <p:cNvPicPr>
                <a:picLocks noChangeAspect="1"/>
              </p:cNvPicPr>
              <p:nvPr/>
            </p:nvPicPr>
            <p:blipFill>
              <a:blip r:embed="rId13" cstate="print">
                <a:extLst>
                  <a:ext uri="{28A0092B-C50C-407E-A947-70E740481C1C}">
                    <a14:useLocalDpi xmlns:a14="http://schemas.microsoft.com/office/drawing/2010/main" val="0"/>
                  </a:ext>
                </a:extLst>
              </a:blip>
              <a:srcRect t="4689" r="-1" b="-1"/>
              <a:stretch>
                <a:fillRect/>
              </a:stretch>
            </p:blipFill>
            <p:spPr>
              <a:xfrm rot="16200000" flipH="1" flipV="1">
                <a:off x="17973585" y="6424866"/>
                <a:ext cx="4443086" cy="3332313"/>
              </a:xfrm>
              <a:prstGeom prst="rect">
                <a:avLst/>
              </a:prstGeom>
            </p:spPr>
          </p:pic>
          <p:pic>
            <p:nvPicPr>
              <p:cNvPr id="56" name="Picture 55" descr="A machine with a screen and buttons&#10;&#10;AI-generated content may be incorrect.">
                <a:extLst>
                  <a:ext uri="{FF2B5EF4-FFF2-40B4-BE49-F238E27FC236}">
                    <a16:creationId xmlns:a16="http://schemas.microsoft.com/office/drawing/2014/main" id="{4C6E8090-67E5-2A06-4A7D-337602A37F5F}"/>
                  </a:ext>
                </a:extLst>
              </p:cNvPr>
              <p:cNvPicPr>
                <a:picLocks noChangeAspect="1"/>
              </p:cNvPicPr>
              <p:nvPr/>
            </p:nvPicPr>
            <p:blipFill>
              <a:blip r:embed="rId14" cstate="print">
                <a:extLst>
                  <a:ext uri="{28A0092B-C50C-407E-A947-70E740481C1C}">
                    <a14:useLocalDpi xmlns:a14="http://schemas.microsoft.com/office/drawing/2010/main" val="0"/>
                  </a:ext>
                </a:extLst>
              </a:blip>
              <a:srcRect t="4689" r="-1" b="-1"/>
              <a:stretch>
                <a:fillRect/>
              </a:stretch>
            </p:blipFill>
            <p:spPr>
              <a:xfrm rot="16200000" flipH="1" flipV="1">
                <a:off x="21700110" y="6424868"/>
                <a:ext cx="4443084" cy="3332311"/>
              </a:xfrm>
              <a:prstGeom prst="rect">
                <a:avLst/>
              </a:prstGeom>
            </p:spPr>
          </p:pic>
          <p:pic>
            <p:nvPicPr>
              <p:cNvPr id="57" name="Picture 56" descr="A glass beaker on a table&#10;&#10;AI-generated content may be incorrect.">
                <a:extLst>
                  <a:ext uri="{FF2B5EF4-FFF2-40B4-BE49-F238E27FC236}">
                    <a16:creationId xmlns:a16="http://schemas.microsoft.com/office/drawing/2014/main" id="{E00F6859-C263-5236-CB71-CDD582D253AE}"/>
                  </a:ext>
                </a:extLst>
              </p:cNvPr>
              <p:cNvPicPr>
                <a:picLocks noChangeAspect="1"/>
              </p:cNvPicPr>
              <p:nvPr/>
            </p:nvPicPr>
            <p:blipFill>
              <a:blip r:embed="rId15" cstate="print">
                <a:extLst>
                  <a:ext uri="{28A0092B-C50C-407E-A947-70E740481C1C}">
                    <a14:useLocalDpi xmlns:a14="http://schemas.microsoft.com/office/drawing/2010/main" val="0"/>
                  </a:ext>
                </a:extLst>
              </a:blip>
              <a:srcRect t="4689" r="-1" b="-1"/>
              <a:stretch>
                <a:fillRect/>
              </a:stretch>
            </p:blipFill>
            <p:spPr>
              <a:xfrm rot="16200000" flipH="1" flipV="1">
                <a:off x="25418303" y="6424868"/>
                <a:ext cx="4443084" cy="3332311"/>
              </a:xfrm>
              <a:prstGeom prst="rect">
                <a:avLst/>
              </a:prstGeom>
            </p:spPr>
          </p:pic>
          <p:pic>
            <p:nvPicPr>
              <p:cNvPr id="58" name="Picture 57">
                <a:extLst>
                  <a:ext uri="{FF2B5EF4-FFF2-40B4-BE49-F238E27FC236}">
                    <a16:creationId xmlns:a16="http://schemas.microsoft.com/office/drawing/2014/main" id="{B700149B-858A-57E7-53B7-ADDD089A4E3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9681699" y="5869479"/>
                <a:ext cx="3332313" cy="4443085"/>
              </a:xfrm>
              <a:prstGeom prst="rect">
                <a:avLst/>
              </a:prstGeom>
            </p:spPr>
          </p:pic>
        </p:grpSp>
        <p:sp>
          <p:nvSpPr>
            <p:cNvPr id="47" name="TextBox 46">
              <a:extLst>
                <a:ext uri="{FF2B5EF4-FFF2-40B4-BE49-F238E27FC236}">
                  <a16:creationId xmlns:a16="http://schemas.microsoft.com/office/drawing/2014/main" id="{B2B39EBE-05B9-F3E6-773C-B88EE1A22FF1}"/>
                </a:ext>
              </a:extLst>
            </p:cNvPr>
            <p:cNvSpPr txBox="1"/>
            <p:nvPr/>
          </p:nvSpPr>
          <p:spPr>
            <a:xfrm>
              <a:off x="14769613" y="10313490"/>
              <a:ext cx="3332313" cy="284985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Stir MAX phase with 48 wt.% HF</a:t>
              </a:r>
            </a:p>
          </p:txBody>
        </p:sp>
        <p:sp>
          <p:nvSpPr>
            <p:cNvPr id="48" name="TextBox 47">
              <a:extLst>
                <a:ext uri="{FF2B5EF4-FFF2-40B4-BE49-F238E27FC236}">
                  <a16:creationId xmlns:a16="http://schemas.microsoft.com/office/drawing/2014/main" id="{D7F59094-868D-750F-F4F5-5344C30B81F1}"/>
                </a:ext>
              </a:extLst>
            </p:cNvPr>
            <p:cNvSpPr txBox="1"/>
            <p:nvPr/>
          </p:nvSpPr>
          <p:spPr>
            <a:xfrm>
              <a:off x="11026362" y="10313490"/>
              <a:ext cx="3332313" cy="219219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Weigh MAX (0.134 g )</a:t>
              </a:r>
              <a:endParaRPr lang="en-US" dirty="0"/>
            </a:p>
          </p:txBody>
        </p:sp>
        <p:sp>
          <p:nvSpPr>
            <p:cNvPr id="49" name="TextBox 48">
              <a:extLst>
                <a:ext uri="{FF2B5EF4-FFF2-40B4-BE49-F238E27FC236}">
                  <a16:creationId xmlns:a16="http://schemas.microsoft.com/office/drawing/2014/main" id="{81FDD4C5-79DD-0146-6395-79A1CC66568C}"/>
                </a:ext>
              </a:extLst>
            </p:cNvPr>
            <p:cNvSpPr txBox="1"/>
            <p:nvPr/>
          </p:nvSpPr>
          <p:spPr>
            <a:xfrm>
              <a:off x="18512864" y="10270268"/>
              <a:ext cx="3315591" cy="350751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 </a:t>
              </a:r>
              <a:r>
                <a:rPr lang="en-US" dirty="0">
                  <a:latin typeface="Times New Roman" panose="02020603050405020304" pitchFamily="18" charset="0"/>
                  <a:cs typeface="Times New Roman" panose="02020603050405020304" pitchFamily="18" charset="0"/>
                </a:rPr>
                <a:t>Stir solution in oil-bath for 3 days (72 h) at 35 °C </a:t>
              </a:r>
            </a:p>
          </p:txBody>
        </p:sp>
        <p:sp>
          <p:nvSpPr>
            <p:cNvPr id="50" name="TextBox 49">
              <a:extLst>
                <a:ext uri="{FF2B5EF4-FFF2-40B4-BE49-F238E27FC236}">
                  <a16:creationId xmlns:a16="http://schemas.microsoft.com/office/drawing/2014/main" id="{F684760E-21AA-A326-9992-05BC05A12F19}"/>
                </a:ext>
              </a:extLst>
            </p:cNvPr>
            <p:cNvSpPr txBox="1"/>
            <p:nvPr/>
          </p:nvSpPr>
          <p:spPr>
            <a:xfrm>
              <a:off x="22256112" y="10270270"/>
              <a:ext cx="3298862" cy="284985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 </a:t>
              </a:r>
              <a:r>
                <a:rPr lang="en-US" dirty="0">
                  <a:latin typeface="Times New Roman" panose="02020603050405020304" pitchFamily="18" charset="0"/>
                  <a:cs typeface="Times New Roman" panose="02020603050405020304" pitchFamily="18" charset="0"/>
                </a:rPr>
                <a:t>Wash slurry until pH 7 is reached</a:t>
              </a:r>
            </a:p>
          </p:txBody>
        </p:sp>
        <p:sp>
          <p:nvSpPr>
            <p:cNvPr id="51" name="TextBox 50">
              <a:extLst>
                <a:ext uri="{FF2B5EF4-FFF2-40B4-BE49-F238E27FC236}">
                  <a16:creationId xmlns:a16="http://schemas.microsoft.com/office/drawing/2014/main" id="{36747134-014E-F1BC-C07C-1695CA39E29B}"/>
                </a:ext>
              </a:extLst>
            </p:cNvPr>
            <p:cNvSpPr txBox="1"/>
            <p:nvPr/>
          </p:nvSpPr>
          <p:spPr>
            <a:xfrm>
              <a:off x="25940859" y="10270268"/>
              <a:ext cx="3397152" cy="350751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 </a:t>
              </a:r>
              <a:r>
                <a:rPr lang="en-US" dirty="0">
                  <a:latin typeface="Times New Roman" panose="02020603050405020304" pitchFamily="18" charset="0"/>
                  <a:cs typeface="Times New Roman" panose="02020603050405020304" pitchFamily="18" charset="0"/>
                </a:rPr>
                <a:t>Remove supernatant through vacuum filtration</a:t>
              </a:r>
            </a:p>
          </p:txBody>
        </p:sp>
        <p:sp>
          <p:nvSpPr>
            <p:cNvPr id="52" name="TextBox 51">
              <a:extLst>
                <a:ext uri="{FF2B5EF4-FFF2-40B4-BE49-F238E27FC236}">
                  <a16:creationId xmlns:a16="http://schemas.microsoft.com/office/drawing/2014/main" id="{6480A6C8-4C57-692C-B8B9-24332BB1310B}"/>
                </a:ext>
              </a:extLst>
            </p:cNvPr>
            <p:cNvSpPr txBox="1"/>
            <p:nvPr/>
          </p:nvSpPr>
          <p:spPr>
            <a:xfrm>
              <a:off x="29667375" y="10288504"/>
              <a:ext cx="3313804" cy="350751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 </a:t>
              </a:r>
              <a:r>
                <a:rPr lang="en-US" dirty="0">
                  <a:latin typeface="Times New Roman" panose="02020603050405020304" pitchFamily="18" charset="0"/>
                  <a:cs typeface="Times New Roman" panose="02020603050405020304" pitchFamily="18" charset="0"/>
                </a:rPr>
                <a:t>Oven dry leftover powder at 50 °C for 12 h</a:t>
              </a:r>
            </a:p>
          </p:txBody>
        </p:sp>
      </p:grpSp>
      <p:grpSp>
        <p:nvGrpSpPr>
          <p:cNvPr id="59" name="Group 58">
            <a:extLst>
              <a:ext uri="{FF2B5EF4-FFF2-40B4-BE49-F238E27FC236}">
                <a16:creationId xmlns:a16="http://schemas.microsoft.com/office/drawing/2014/main" id="{60E21333-C8E4-51DC-C3A3-A781DFD63D6D}"/>
              </a:ext>
            </a:extLst>
          </p:cNvPr>
          <p:cNvGrpSpPr/>
          <p:nvPr/>
        </p:nvGrpSpPr>
        <p:grpSpPr>
          <a:xfrm>
            <a:off x="10294674" y="8830304"/>
            <a:ext cx="10181570" cy="758208"/>
            <a:chOff x="835956" y="3371498"/>
            <a:chExt cx="8902108" cy="747457"/>
          </a:xfrm>
        </p:grpSpPr>
        <p:sp>
          <p:nvSpPr>
            <p:cNvPr id="61" name="Rectangle 60">
              <a:extLst>
                <a:ext uri="{FF2B5EF4-FFF2-40B4-BE49-F238E27FC236}">
                  <a16:creationId xmlns:a16="http://schemas.microsoft.com/office/drawing/2014/main" id="{A277B36A-30A3-E159-E678-E5F0F3CB3801}"/>
                </a:ext>
              </a:extLst>
            </p:cNvPr>
            <p:cNvSpPr/>
            <p:nvPr/>
          </p:nvSpPr>
          <p:spPr>
            <a:xfrm>
              <a:off x="835956" y="3371498"/>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CB828261-3622-32F8-D486-8A51BA983084}"/>
                </a:ext>
              </a:extLst>
            </p:cNvPr>
            <p:cNvSpPr txBox="1"/>
            <p:nvPr/>
          </p:nvSpPr>
          <p:spPr>
            <a:xfrm>
              <a:off x="3713805" y="3434259"/>
              <a:ext cx="3296448" cy="54614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Characterization</a:t>
              </a:r>
            </a:p>
          </p:txBody>
        </p:sp>
      </p:grpSp>
      <p:sp>
        <p:nvSpPr>
          <p:cNvPr id="64" name="TextBox 63">
            <a:extLst>
              <a:ext uri="{FF2B5EF4-FFF2-40B4-BE49-F238E27FC236}">
                <a16:creationId xmlns:a16="http://schemas.microsoft.com/office/drawing/2014/main" id="{48CBB281-2C1B-0ED4-B8E5-459EC1AE5CD3}"/>
              </a:ext>
            </a:extLst>
          </p:cNvPr>
          <p:cNvSpPr txBox="1"/>
          <p:nvPr/>
        </p:nvSpPr>
        <p:spPr>
          <a:xfrm>
            <a:off x="10924032" y="20789880"/>
            <a:ext cx="3731941"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Figure 3. </a:t>
            </a:r>
            <a:r>
              <a:rPr lang="en-US" sz="1200" dirty="0">
                <a:latin typeface="Times New Roman" panose="02020603050405020304" pitchFamily="18" charset="0"/>
                <a:cs typeface="Times New Roman" panose="02020603050405020304" pitchFamily="18" charset="0"/>
              </a:rPr>
              <a:t>Raman spectra reveals bonding environment of Ta and C layers.</a:t>
            </a:r>
            <a:endParaRPr lang="en-US" sz="1200" dirty="0"/>
          </a:p>
        </p:txBody>
      </p:sp>
      <p:sp>
        <p:nvSpPr>
          <p:cNvPr id="69" name="TextBox 68">
            <a:extLst>
              <a:ext uri="{FF2B5EF4-FFF2-40B4-BE49-F238E27FC236}">
                <a16:creationId xmlns:a16="http://schemas.microsoft.com/office/drawing/2014/main" id="{7E9EA6AC-2A0F-8752-CA39-2B6F1986EFDC}"/>
              </a:ext>
            </a:extLst>
          </p:cNvPr>
          <p:cNvSpPr txBox="1"/>
          <p:nvPr/>
        </p:nvSpPr>
        <p:spPr>
          <a:xfrm>
            <a:off x="10844101" y="13540714"/>
            <a:ext cx="4092239"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Figure 1. </a:t>
            </a:r>
            <a:r>
              <a:rPr lang="en-US" sz="1200" dirty="0">
                <a:latin typeface="Times New Roman" panose="02020603050405020304" pitchFamily="18" charset="0"/>
                <a:cs typeface="Times New Roman" panose="02020603050405020304" pitchFamily="18" charset="0"/>
              </a:rPr>
              <a:t>XRD spectra of MAX and MXene phase materials highlighting Al relevant peaks. </a:t>
            </a:r>
            <a:endParaRPr lang="en-US" sz="1200" dirty="0"/>
          </a:p>
        </p:txBody>
      </p:sp>
      <p:sp>
        <p:nvSpPr>
          <p:cNvPr id="81" name="Rectangle 80">
            <a:extLst>
              <a:ext uri="{FF2B5EF4-FFF2-40B4-BE49-F238E27FC236}">
                <a16:creationId xmlns:a16="http://schemas.microsoft.com/office/drawing/2014/main" id="{5303A2C7-A2BB-7573-AF74-EE208C8C4B4C}"/>
              </a:ext>
            </a:extLst>
          </p:cNvPr>
          <p:cNvSpPr/>
          <p:nvPr/>
        </p:nvSpPr>
        <p:spPr>
          <a:xfrm>
            <a:off x="11322372" y="17102990"/>
            <a:ext cx="1239171" cy="358501"/>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latin typeface="Georgia" panose="02040502050405020303" pitchFamily="18" charset="0"/>
              </a:rPr>
              <a:t>Raman</a:t>
            </a:r>
          </a:p>
        </p:txBody>
      </p:sp>
      <p:sp>
        <p:nvSpPr>
          <p:cNvPr id="5" name="TextBox 4">
            <a:extLst>
              <a:ext uri="{FF2B5EF4-FFF2-40B4-BE49-F238E27FC236}">
                <a16:creationId xmlns:a16="http://schemas.microsoft.com/office/drawing/2014/main" id="{0035FC34-5C55-4BDF-80A1-BCCBAFF6D269}"/>
              </a:ext>
            </a:extLst>
          </p:cNvPr>
          <p:cNvSpPr txBox="1"/>
          <p:nvPr/>
        </p:nvSpPr>
        <p:spPr>
          <a:xfrm>
            <a:off x="21528316" y="4303175"/>
            <a:ext cx="6718375" cy="4708981"/>
          </a:xfrm>
          <a:prstGeom prst="rect">
            <a:avLst/>
          </a:prstGeom>
          <a:noFill/>
        </p:spPr>
        <p:txBody>
          <a:bodyPr wrap="square" rtlCol="0">
            <a:spAutoFit/>
          </a:bodyPr>
          <a:lstStyle/>
          <a:p>
            <a:pPr marL="304847" indent="-304847">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Our study indicates that the optimal amount of HF to use for this methods was 0.9:0.001 HF:MAX molar ratio</a:t>
            </a:r>
          </a:p>
          <a:p>
            <a:pPr marL="304847" indent="-304847">
              <a:buFont typeface="Arial" panose="020B0604020202020204" pitchFamily="34" charset="0"/>
              <a:buChar char="•"/>
            </a:pPr>
            <a:r>
              <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inter-layer spacing has increased after etching, as indicated by the (002) angle shift in the XRD pattern</a:t>
            </a:r>
          </a:p>
          <a:p>
            <a:pPr marL="304847" indent="-304847">
              <a:buFont typeface="Arial" panose="020B0604020202020204" pitchFamily="34" charset="0"/>
              <a:buChar char="•"/>
            </a:pPr>
            <a:r>
              <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Al-layers have been etched in MXene as indicated by reductions of peaks in both XRD pattern and Raman spectra</a:t>
            </a:r>
          </a:p>
          <a:p>
            <a:pPr marL="304847" indent="-304847">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Formation of </a:t>
            </a:r>
            <a:r>
              <a:rPr lang="en-US" sz="2500" dirty="0">
                <a:latin typeface="Times New Roman" panose="02020603050405020304" pitchFamily="18" charset="0"/>
                <a:cs typeface="Times New Roman" panose="02020603050405020304" pitchFamily="18" charset="0"/>
                <a:sym typeface="Symbol" panose="05050102010706020507" pitchFamily="18" charset="2"/>
              </a:rPr>
              <a:t></a:t>
            </a:r>
            <a:r>
              <a:rPr lang="en-US" sz="2500" dirty="0">
                <a:latin typeface="Times New Roman" panose="02020603050405020304" pitchFamily="18" charset="0"/>
                <a:cs typeface="Times New Roman" panose="02020603050405020304" pitchFamily="18" charset="0"/>
              </a:rPr>
              <a:t>O, </a:t>
            </a:r>
            <a:r>
              <a:rPr lang="en-US" sz="2500" dirty="0">
                <a:latin typeface="Times New Roman" panose="02020603050405020304" pitchFamily="18" charset="0"/>
                <a:cs typeface="Times New Roman" panose="02020603050405020304" pitchFamily="18" charset="0"/>
                <a:sym typeface="Symbol" panose="05050102010706020507" pitchFamily="18" charset="2"/>
              </a:rPr>
              <a:t></a:t>
            </a:r>
            <a:r>
              <a:rPr lang="en-US" sz="2500" dirty="0">
                <a:latin typeface="Times New Roman" panose="02020603050405020304" pitchFamily="18" charset="0"/>
                <a:cs typeface="Times New Roman" panose="02020603050405020304" pitchFamily="18" charset="0"/>
              </a:rPr>
              <a:t>OH, and/or </a:t>
            </a:r>
            <a:r>
              <a:rPr lang="en-US" sz="2500" dirty="0">
                <a:latin typeface="Times New Roman" panose="02020603050405020304" pitchFamily="18" charset="0"/>
                <a:cs typeface="Times New Roman" panose="02020603050405020304" pitchFamily="18" charset="0"/>
                <a:sym typeface="Symbol" panose="05050102010706020507" pitchFamily="18" charset="2"/>
              </a:rPr>
              <a:t></a:t>
            </a:r>
            <a:r>
              <a:rPr lang="en-US" sz="2500" dirty="0">
                <a:latin typeface="Times New Roman" panose="02020603050405020304" pitchFamily="18" charset="0"/>
                <a:cs typeface="Times New Roman" panose="02020603050405020304" pitchFamily="18" charset="0"/>
              </a:rPr>
              <a:t>F surface functional groups are implied by the broadened peaks between  20° and 45° in the XRD pattern</a:t>
            </a:r>
            <a:endPar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84" name="Rectangle 83">
            <a:extLst>
              <a:ext uri="{FF2B5EF4-FFF2-40B4-BE49-F238E27FC236}">
                <a16:creationId xmlns:a16="http://schemas.microsoft.com/office/drawing/2014/main" id="{27576D9D-5BD4-8631-52BC-18F4E5719749}"/>
              </a:ext>
            </a:extLst>
          </p:cNvPr>
          <p:cNvSpPr/>
          <p:nvPr/>
        </p:nvSpPr>
        <p:spPr>
          <a:xfrm>
            <a:off x="21094302" y="13837906"/>
            <a:ext cx="7599401" cy="167967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1422">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422"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1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grpSp>
        <p:nvGrpSpPr>
          <p:cNvPr id="85" name="Group 84">
            <a:extLst>
              <a:ext uri="{FF2B5EF4-FFF2-40B4-BE49-F238E27FC236}">
                <a16:creationId xmlns:a16="http://schemas.microsoft.com/office/drawing/2014/main" id="{2A6C83C3-3021-BB6F-4D9D-2730151EC5FB}"/>
              </a:ext>
            </a:extLst>
          </p:cNvPr>
          <p:cNvGrpSpPr/>
          <p:nvPr/>
        </p:nvGrpSpPr>
        <p:grpSpPr>
          <a:xfrm>
            <a:off x="21094302" y="13149656"/>
            <a:ext cx="7599401" cy="674796"/>
            <a:chOff x="835956" y="3371497"/>
            <a:chExt cx="8902108" cy="747457"/>
          </a:xfrm>
        </p:grpSpPr>
        <p:sp>
          <p:nvSpPr>
            <p:cNvPr id="86" name="Rectangle 85">
              <a:extLst>
                <a:ext uri="{FF2B5EF4-FFF2-40B4-BE49-F238E27FC236}">
                  <a16:creationId xmlns:a16="http://schemas.microsoft.com/office/drawing/2014/main" id="{29F04FB2-7918-39B6-16F7-6167B317CDAB}"/>
                </a:ext>
              </a:extLst>
            </p:cNvPr>
            <p:cNvSpPr/>
            <p:nvPr/>
          </p:nvSpPr>
          <p:spPr>
            <a:xfrm>
              <a:off x="835956" y="3371497"/>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EA4AF7E1-2EFE-C12C-C12F-CB6A2D70471B}"/>
                </a:ext>
              </a:extLst>
            </p:cNvPr>
            <p:cNvSpPr txBox="1"/>
            <p:nvPr/>
          </p:nvSpPr>
          <p:spPr>
            <a:xfrm>
              <a:off x="2915273" y="3478314"/>
              <a:ext cx="4743472" cy="61365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Acknowledgements</a:t>
              </a:r>
            </a:p>
          </p:txBody>
        </p:sp>
      </p:grpSp>
      <p:sp>
        <p:nvSpPr>
          <p:cNvPr id="88" name="TextBox 87">
            <a:extLst>
              <a:ext uri="{FF2B5EF4-FFF2-40B4-BE49-F238E27FC236}">
                <a16:creationId xmlns:a16="http://schemas.microsoft.com/office/drawing/2014/main" id="{8DBC9FC4-CCB4-EC50-6952-AF7C578F7930}"/>
              </a:ext>
            </a:extLst>
          </p:cNvPr>
          <p:cNvSpPr txBox="1"/>
          <p:nvPr/>
        </p:nvSpPr>
        <p:spPr>
          <a:xfrm>
            <a:off x="21489262" y="14041849"/>
            <a:ext cx="6718375" cy="1246495"/>
          </a:xfrm>
          <a:prstGeom prst="rect">
            <a:avLst/>
          </a:prstGeom>
          <a:noFill/>
        </p:spPr>
        <p:txBody>
          <a:bodyPr wrap="square" rtlCol="0">
            <a:spAutoFit/>
          </a:bodyPr>
          <a:lstStyle/>
          <a:p>
            <a:r>
              <a:rPr lang="en-US" sz="2500" dirty="0">
                <a:solidFill>
                  <a:srgbClr val="222222"/>
                </a:solidFill>
                <a:highlight>
                  <a:srgbClr val="FFFFFF"/>
                </a:highlight>
                <a:latin typeface="Times New Roman" panose="02020603050405020304" pitchFamily="18" charset="0"/>
                <a:ea typeface="Calibri" panose="020F0502020204030204" pitchFamily="34" charset="0"/>
                <a:cs typeface="Times New Roman" panose="02020603050405020304" pitchFamily="18" charset="0"/>
              </a:rPr>
              <a:t>The synthesis</a:t>
            </a:r>
            <a:r>
              <a:rPr lang="en-US" sz="2500" dirty="0">
                <a:latin typeface="Times New Roman" panose="02020603050405020304" pitchFamily="18" charset="0"/>
                <a:ea typeface="Calibri" panose="020F0502020204030204" pitchFamily="34" charset="0"/>
                <a:cs typeface="Times New Roman" panose="02020603050405020304" pitchFamily="18" charset="0"/>
              </a:rPr>
              <a:t> and characterization work was supported by DOE BES award number DE-SC0024611.</a:t>
            </a:r>
          </a:p>
        </p:txBody>
      </p:sp>
      <p:grpSp>
        <p:nvGrpSpPr>
          <p:cNvPr id="89" name="Group 88">
            <a:extLst>
              <a:ext uri="{FF2B5EF4-FFF2-40B4-BE49-F238E27FC236}">
                <a16:creationId xmlns:a16="http://schemas.microsoft.com/office/drawing/2014/main" id="{89190033-D876-0900-97FB-5C95D589AFB5}"/>
              </a:ext>
            </a:extLst>
          </p:cNvPr>
          <p:cNvGrpSpPr/>
          <p:nvPr/>
        </p:nvGrpSpPr>
        <p:grpSpPr>
          <a:xfrm>
            <a:off x="21099377" y="15765282"/>
            <a:ext cx="7599401" cy="674796"/>
            <a:chOff x="835956" y="3371497"/>
            <a:chExt cx="8902108" cy="747457"/>
          </a:xfrm>
        </p:grpSpPr>
        <p:sp>
          <p:nvSpPr>
            <p:cNvPr id="90" name="Rectangle 89">
              <a:extLst>
                <a:ext uri="{FF2B5EF4-FFF2-40B4-BE49-F238E27FC236}">
                  <a16:creationId xmlns:a16="http://schemas.microsoft.com/office/drawing/2014/main" id="{B58A5B58-6023-5AF3-6CAE-C5EB2F8D7A14}"/>
                </a:ext>
              </a:extLst>
            </p:cNvPr>
            <p:cNvSpPr/>
            <p:nvPr/>
          </p:nvSpPr>
          <p:spPr>
            <a:xfrm>
              <a:off x="835956" y="3371497"/>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69BF70C3-6C53-2738-AB7A-F86B8C36947D}"/>
                </a:ext>
              </a:extLst>
            </p:cNvPr>
            <p:cNvSpPr txBox="1"/>
            <p:nvPr/>
          </p:nvSpPr>
          <p:spPr>
            <a:xfrm>
              <a:off x="3879385" y="3438400"/>
              <a:ext cx="2830474" cy="61365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References</a:t>
              </a:r>
            </a:p>
          </p:txBody>
        </p:sp>
      </p:grpSp>
      <p:sp>
        <p:nvSpPr>
          <p:cNvPr id="92" name="Rectangle 91">
            <a:extLst>
              <a:ext uri="{FF2B5EF4-FFF2-40B4-BE49-F238E27FC236}">
                <a16:creationId xmlns:a16="http://schemas.microsoft.com/office/drawing/2014/main" id="{C360C19D-813D-C722-8FC8-8E8879115E33}"/>
              </a:ext>
            </a:extLst>
          </p:cNvPr>
          <p:cNvSpPr/>
          <p:nvPr/>
        </p:nvSpPr>
        <p:spPr>
          <a:xfrm>
            <a:off x="21094302" y="20108434"/>
            <a:ext cx="7592901" cy="1542528"/>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853" dirty="0"/>
          </a:p>
        </p:txBody>
      </p:sp>
      <p:grpSp>
        <p:nvGrpSpPr>
          <p:cNvPr id="93" name="Group 92">
            <a:extLst>
              <a:ext uri="{FF2B5EF4-FFF2-40B4-BE49-F238E27FC236}">
                <a16:creationId xmlns:a16="http://schemas.microsoft.com/office/drawing/2014/main" id="{EE7D54C0-0EEB-9D11-6D48-68C2581D9285}"/>
              </a:ext>
            </a:extLst>
          </p:cNvPr>
          <p:cNvGrpSpPr/>
          <p:nvPr/>
        </p:nvGrpSpPr>
        <p:grpSpPr>
          <a:xfrm>
            <a:off x="21087801" y="19434863"/>
            <a:ext cx="7599401" cy="674796"/>
            <a:chOff x="835956" y="3371497"/>
            <a:chExt cx="8902108" cy="747457"/>
          </a:xfrm>
        </p:grpSpPr>
        <p:sp>
          <p:nvSpPr>
            <p:cNvPr id="94" name="Rectangle 93">
              <a:extLst>
                <a:ext uri="{FF2B5EF4-FFF2-40B4-BE49-F238E27FC236}">
                  <a16:creationId xmlns:a16="http://schemas.microsoft.com/office/drawing/2014/main" id="{0F20836F-9F91-752B-356E-B40CF3B1BFC0}"/>
                </a:ext>
              </a:extLst>
            </p:cNvPr>
            <p:cNvSpPr/>
            <p:nvPr/>
          </p:nvSpPr>
          <p:spPr>
            <a:xfrm>
              <a:off x="835956" y="3371497"/>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32A51E6B-6BB7-5460-28F1-5771130F699E}"/>
                </a:ext>
              </a:extLst>
            </p:cNvPr>
            <p:cNvSpPr txBox="1"/>
            <p:nvPr/>
          </p:nvSpPr>
          <p:spPr>
            <a:xfrm>
              <a:off x="2792763" y="3378821"/>
              <a:ext cx="4988491" cy="61365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Contact Information</a:t>
              </a:r>
            </a:p>
          </p:txBody>
        </p:sp>
      </p:grpSp>
      <p:sp>
        <p:nvSpPr>
          <p:cNvPr id="60" name="TextBox 82">
            <a:extLst>
              <a:ext uri="{FF2B5EF4-FFF2-40B4-BE49-F238E27FC236}">
                <a16:creationId xmlns:a16="http://schemas.microsoft.com/office/drawing/2014/main" id="{0F6FAED0-79F9-4023-A782-8D9A13E46F37}"/>
              </a:ext>
            </a:extLst>
          </p:cNvPr>
          <p:cNvSpPr txBox="1">
            <a:spLocks noChangeArrowheads="1"/>
          </p:cNvSpPr>
          <p:nvPr/>
        </p:nvSpPr>
        <p:spPr bwMode="auto">
          <a:xfrm>
            <a:off x="21435704" y="20357361"/>
            <a:ext cx="6916592" cy="86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3713" tIns="16856" rIns="33713" bIns="1685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latin typeface="Times New Roman" panose="02020603050405020304" pitchFamily="18" charset="0"/>
                <a:cs typeface="Times New Roman" panose="02020603050405020304" pitchFamily="18" charset="0"/>
              </a:rPr>
              <a:t>Dr. Bhoj Gautam, </a:t>
            </a:r>
            <a:r>
              <a:rPr lang="en-US" sz="1800" dirty="0">
                <a:latin typeface="Times New Roman" panose="02020603050405020304" pitchFamily="18" charset="0"/>
                <a:cs typeface="Times New Roman" panose="02020603050405020304" pitchFamily="18" charset="0"/>
              </a:rPr>
              <a:t>Department of Chemistry, Physics and Material Science</a:t>
            </a:r>
          </a:p>
          <a:p>
            <a:r>
              <a:rPr lang="en-US" sz="1800" dirty="0">
                <a:latin typeface="Times New Roman" panose="02020603050405020304" pitchFamily="18" charset="0"/>
                <a:cs typeface="Times New Roman" panose="02020603050405020304" pitchFamily="18" charset="0"/>
              </a:rPr>
              <a:t>Fayetteville State University, Fayetteville, NC-28301</a:t>
            </a:r>
          </a:p>
          <a:p>
            <a:r>
              <a:rPr 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Email: </a:t>
            </a:r>
            <a:r>
              <a:rPr lang="en-US" altLang="en-US" sz="1800" dirty="0">
                <a:latin typeface="Times New Roman" panose="02020603050405020304" pitchFamily="18" charset="0"/>
                <a:cs typeface="Times New Roman" panose="02020603050405020304" pitchFamily="18" charset="0"/>
                <a:hlinkClick r:id="rId17"/>
              </a:rPr>
              <a:t>bgautam@uncfsu.edu</a:t>
            </a:r>
            <a:r>
              <a:rPr lang="en-US"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Phone: 910-672-1653</a:t>
            </a:r>
            <a:endParaRPr lang="en-US" altLang="en-US" sz="1800" b="1" dirty="0">
              <a:latin typeface="Times New Roman" panose="02020603050405020304" pitchFamily="18" charset="0"/>
              <a:cs typeface="Times New Roman" panose="02020603050405020304" pitchFamily="18" charset="0"/>
            </a:endParaRPr>
          </a:p>
        </p:txBody>
      </p:sp>
      <p:grpSp>
        <p:nvGrpSpPr>
          <p:cNvPr id="96" name="Group 95">
            <a:extLst>
              <a:ext uri="{FF2B5EF4-FFF2-40B4-BE49-F238E27FC236}">
                <a16:creationId xmlns:a16="http://schemas.microsoft.com/office/drawing/2014/main" id="{BFE343C7-5930-6CC6-0C6B-0E608443877B}"/>
              </a:ext>
            </a:extLst>
          </p:cNvPr>
          <p:cNvGrpSpPr/>
          <p:nvPr/>
        </p:nvGrpSpPr>
        <p:grpSpPr>
          <a:xfrm>
            <a:off x="21102337" y="9209396"/>
            <a:ext cx="7599401" cy="674796"/>
            <a:chOff x="835956" y="3371497"/>
            <a:chExt cx="8902108" cy="747457"/>
          </a:xfrm>
        </p:grpSpPr>
        <p:sp>
          <p:nvSpPr>
            <p:cNvPr id="97" name="Rectangle 96">
              <a:extLst>
                <a:ext uri="{FF2B5EF4-FFF2-40B4-BE49-F238E27FC236}">
                  <a16:creationId xmlns:a16="http://schemas.microsoft.com/office/drawing/2014/main" id="{A2E68387-E80A-D72B-4F9F-C48D854CE326}"/>
                </a:ext>
              </a:extLst>
            </p:cNvPr>
            <p:cNvSpPr/>
            <p:nvPr/>
          </p:nvSpPr>
          <p:spPr>
            <a:xfrm>
              <a:off x="835956" y="3371497"/>
              <a:ext cx="8902108" cy="747457"/>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B2BE08E7-1AA3-3E0F-5BA3-449985392A53}"/>
                </a:ext>
              </a:extLst>
            </p:cNvPr>
            <p:cNvSpPr txBox="1"/>
            <p:nvPr/>
          </p:nvSpPr>
          <p:spPr>
            <a:xfrm>
              <a:off x="2915273" y="3478314"/>
              <a:ext cx="4743472" cy="613652"/>
            </a:xfrm>
            <a:prstGeom prst="rect">
              <a:avLst/>
            </a:prstGeom>
            <a:noFill/>
          </p:spPr>
          <p:txBody>
            <a:bodyPr wrap="square" rtlCol="0">
              <a:spAutoFit/>
            </a:bodyPr>
            <a:lstStyle/>
            <a:p>
              <a:r>
                <a:rPr lang="en-US" sz="3000" b="1" u="sng" dirty="0">
                  <a:solidFill>
                    <a:schemeClr val="bg1"/>
                  </a:solidFill>
                  <a:latin typeface="Georgia" panose="02040502050405020303" pitchFamily="18" charset="0"/>
                  <a:cs typeface="Times New Roman" panose="02020603050405020304" pitchFamily="18" charset="0"/>
                </a:rPr>
                <a:t>Future Directions</a:t>
              </a:r>
            </a:p>
          </p:txBody>
        </p:sp>
      </p:grpSp>
      <p:sp>
        <p:nvSpPr>
          <p:cNvPr id="100" name="TextBox 99">
            <a:extLst>
              <a:ext uri="{FF2B5EF4-FFF2-40B4-BE49-F238E27FC236}">
                <a16:creationId xmlns:a16="http://schemas.microsoft.com/office/drawing/2014/main" id="{15ADDE03-3B1C-10A7-C924-80C0DFC8711D}"/>
              </a:ext>
            </a:extLst>
          </p:cNvPr>
          <p:cNvSpPr txBox="1"/>
          <p:nvPr/>
        </p:nvSpPr>
        <p:spPr>
          <a:xfrm>
            <a:off x="21528311" y="10236240"/>
            <a:ext cx="6718375" cy="2400657"/>
          </a:xfrm>
          <a:prstGeom prst="rect">
            <a:avLst/>
          </a:prstGeom>
          <a:noFill/>
        </p:spPr>
        <p:txBody>
          <a:bodyPr wrap="square" rtlCol="0">
            <a:spAutoFit/>
          </a:bodyPr>
          <a:lstStyle/>
          <a:p>
            <a:pPr marL="304847" indent="-304847">
              <a:buFont typeface="Arial" panose="020B0604020202020204" pitchFamily="34" charset="0"/>
              <a:buChar char="•"/>
            </a:pPr>
            <a:r>
              <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Prepare MXene-Cellulose Bio-composites utilizing methyl cellulose and cellulose acetate</a:t>
            </a:r>
          </a:p>
          <a:p>
            <a:pPr marL="304847" indent="-304847">
              <a:buFont typeface="Arial" panose="020B0604020202020204" pitchFamily="34" charset="0"/>
              <a:buChar char="•"/>
            </a:pPr>
            <a:r>
              <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Measure </a:t>
            </a:r>
            <a:r>
              <a:rPr lang="en-US" sz="2500" dirty="0">
                <a:latin typeface="Times New Roman" panose="02020603050405020304" pitchFamily="18" charset="0"/>
                <a:cs typeface="Times New Roman" panose="02020603050405020304" pitchFamily="18" charset="0"/>
              </a:rPr>
              <a:t>charge transfer, capacitance, and bandgap of Bio-composite material</a:t>
            </a:r>
          </a:p>
          <a:p>
            <a:pPr marL="304847" indent="-304847">
              <a:buFont typeface="Arial" panose="020B0604020202020204" pitchFamily="34" charset="0"/>
              <a:buChar char="•"/>
            </a:pPr>
            <a:r>
              <a:rPr lang="en-US" sz="25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Make flexible MXene-Cellulose composite paper for bio-sensing applications</a:t>
            </a:r>
          </a:p>
        </p:txBody>
      </p:sp>
      <p:sp>
        <p:nvSpPr>
          <p:cNvPr id="101" name="Rectangle 100">
            <a:extLst>
              <a:ext uri="{FF2B5EF4-FFF2-40B4-BE49-F238E27FC236}">
                <a16:creationId xmlns:a16="http://schemas.microsoft.com/office/drawing/2014/main" id="{00DAA8EC-6F02-532A-B8BC-E67DAA045817}"/>
              </a:ext>
            </a:extLst>
          </p:cNvPr>
          <p:cNvSpPr/>
          <p:nvPr/>
        </p:nvSpPr>
        <p:spPr>
          <a:xfrm>
            <a:off x="14843730" y="13801658"/>
            <a:ext cx="1239171" cy="358501"/>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latin typeface="Georgia" panose="02040502050405020303" pitchFamily="18" charset="0"/>
              </a:rPr>
              <a:t>SEM</a:t>
            </a:r>
          </a:p>
        </p:txBody>
      </p:sp>
      <p:sp>
        <p:nvSpPr>
          <p:cNvPr id="102" name="Rectangle 101">
            <a:extLst>
              <a:ext uri="{FF2B5EF4-FFF2-40B4-BE49-F238E27FC236}">
                <a16:creationId xmlns:a16="http://schemas.microsoft.com/office/drawing/2014/main" id="{D12409F8-0DF7-6EAD-02FB-A11193672BFA}"/>
              </a:ext>
            </a:extLst>
          </p:cNvPr>
          <p:cNvSpPr/>
          <p:nvPr/>
        </p:nvSpPr>
        <p:spPr>
          <a:xfrm>
            <a:off x="11212771" y="9873240"/>
            <a:ext cx="1239171" cy="358501"/>
          </a:xfrm>
          <a:prstGeom prst="rect">
            <a:avLst/>
          </a:prstGeom>
          <a:solidFill>
            <a:schemeClr val="accent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latin typeface="Georgia" panose="02040502050405020303" pitchFamily="18" charset="0"/>
              </a:rPr>
              <a:t>XRD</a:t>
            </a:r>
          </a:p>
        </p:txBody>
      </p:sp>
    </p:spTree>
    <p:extLst>
      <p:ext uri="{BB962C8B-B14F-4D97-AF65-F5344CB8AC3E}">
        <p14:creationId xmlns:p14="http://schemas.microsoft.com/office/powerpoint/2010/main" val="33702748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1942</TotalTime>
  <Words>866</Words>
  <Application>Microsoft Office PowerPoint</Application>
  <PresentationFormat>Custom</PresentationFormat>
  <Paragraphs>141</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Georgia</vt:lpstr>
      <vt:lpstr>Open Sans</vt:lpstr>
      <vt:lpstr>Times New Roman</vt:lpstr>
      <vt:lpstr>Trebuchet MS</vt:lpstr>
      <vt:lpstr>Wingdings 3</vt:lpstr>
      <vt:lpstr>Facet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Younts</dc:creator>
  <cp:lastModifiedBy>Jianna Evans</cp:lastModifiedBy>
  <cp:revision>28</cp:revision>
  <dcterms:created xsi:type="dcterms:W3CDTF">2015-07-13T15:21:49Z</dcterms:created>
  <dcterms:modified xsi:type="dcterms:W3CDTF">2026-03-04T18:35:50Z</dcterms:modified>
</cp:coreProperties>
</file>